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3"/>
    <p:sldId id="258" r:id="rId4"/>
    <p:sldId id="259" r:id="rId5"/>
    <p:sldId id="276" r:id="rId6"/>
    <p:sldId id="263" r:id="rId7"/>
    <p:sldId id="260" r:id="rId8"/>
    <p:sldId id="290" r:id="rId9"/>
    <p:sldId id="291" r:id="rId10"/>
    <p:sldId id="292" r:id="rId11"/>
    <p:sldId id="297" r:id="rId12"/>
    <p:sldId id="296" r:id="rId13"/>
    <p:sldId id="298" r:id="rId14"/>
    <p:sldId id="262" r:id="rId15"/>
    <p:sldId id="299" r:id="rId16"/>
    <p:sldId id="27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d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B9E2"/>
    <a:srgbClr val="E9629B"/>
    <a:srgbClr val="F5D45D"/>
    <a:srgbClr val="9393C7"/>
    <a:srgbClr val="9193C7"/>
    <a:srgbClr val="DE4483"/>
    <a:srgbClr val="6399D1"/>
    <a:srgbClr val="F5B75A"/>
    <a:srgbClr val="454E9E"/>
    <a:srgbClr val="E96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394" y="397197"/>
            <a:ext cx="10451253" cy="637094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7005" y="2774950"/>
            <a:ext cx="7049135" cy="161480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CN" sz="4000" b="1">
                <a:solidFill>
                  <a:srgbClr val="E966A0"/>
                </a:solidFill>
                <a:cs typeface="+mn-lt"/>
              </a:rPr>
              <a:t>PHÂN TÍCH YÊU CẦU NGHIỆP VỤ</a:t>
            </a:r>
            <a:endParaRPr lang="en-US" altLang="zh-CN" sz="4000" b="1">
              <a:solidFill>
                <a:srgbClr val="E966A0"/>
              </a:solidFill>
              <a:cs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512912" y="3621196"/>
            <a:ext cx="402209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rgbClr val="8585BF"/>
                </a:solidFill>
                <a:cs typeface="+mn-lt"/>
              </a:rPr>
              <a:t>Website nội thất</a:t>
            </a:r>
            <a:endParaRPr lang="en-US" altLang="zh-CN" sz="4400" b="1">
              <a:solidFill>
                <a:srgbClr val="8585BF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7818196" y="1425341"/>
            <a:ext cx="0" cy="3591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414941" y="741295"/>
            <a:ext cx="4611637" cy="5375409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 flipH="1">
            <a:off x="8922407" y="-1684155"/>
            <a:ext cx="2405991" cy="2405991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 flipH="1">
            <a:off x="7379739" y="-405729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 flipH="1">
            <a:off x="4990751" y="6156344"/>
            <a:ext cx="2649353" cy="2649353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 flipH="1">
            <a:off x="-708621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椭圆 10"/>
          <p:cNvSpPr/>
          <p:nvPr>
            <p:custDataLst>
              <p:tags r:id="rId3"/>
            </p:custDataLst>
          </p:nvPr>
        </p:nvSpPr>
        <p:spPr>
          <a:xfrm>
            <a:off x="7494858" y="940704"/>
            <a:ext cx="661916" cy="661916"/>
          </a:xfrm>
          <a:prstGeom prst="ellipse">
            <a:avLst/>
          </a:prstGeom>
          <a:solidFill>
            <a:schemeClr val="bg1"/>
          </a:solidFill>
          <a:ln>
            <a:solidFill>
              <a:srgbClr val="85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1</a:t>
            </a:r>
            <a:endParaRPr lang="zh-CN" altLang="en-US" sz="280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椭圆 11"/>
          <p:cNvSpPr/>
          <p:nvPr>
            <p:custDataLst>
              <p:tags r:id="rId4"/>
            </p:custDataLst>
          </p:nvPr>
        </p:nvSpPr>
        <p:spPr>
          <a:xfrm>
            <a:off x="7487238" y="1843507"/>
            <a:ext cx="661916" cy="661916"/>
          </a:xfrm>
          <a:prstGeom prst="ellipse">
            <a:avLst/>
          </a:prstGeom>
          <a:solidFill>
            <a:schemeClr val="bg1"/>
          </a:solidFill>
          <a:ln>
            <a:solidFill>
              <a:srgbClr val="85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2</a:t>
            </a:r>
            <a:endParaRPr lang="zh-CN" altLang="en-US" sz="280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椭圆 12"/>
          <p:cNvSpPr/>
          <p:nvPr>
            <p:custDataLst>
              <p:tags r:id="rId5"/>
            </p:custDataLst>
          </p:nvPr>
        </p:nvSpPr>
        <p:spPr>
          <a:xfrm>
            <a:off x="7487238" y="2845370"/>
            <a:ext cx="661916" cy="661916"/>
          </a:xfrm>
          <a:prstGeom prst="ellipse">
            <a:avLst/>
          </a:prstGeom>
          <a:solidFill>
            <a:schemeClr val="bg1"/>
          </a:solidFill>
          <a:ln>
            <a:solidFill>
              <a:srgbClr val="85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3</a:t>
            </a:r>
            <a:endParaRPr lang="zh-CN" altLang="en-US" sz="280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椭圆 13"/>
          <p:cNvSpPr/>
          <p:nvPr>
            <p:custDataLst>
              <p:tags r:id="rId6"/>
            </p:custDataLst>
          </p:nvPr>
        </p:nvSpPr>
        <p:spPr>
          <a:xfrm>
            <a:off x="7487238" y="3845964"/>
            <a:ext cx="661916" cy="661916"/>
          </a:xfrm>
          <a:prstGeom prst="ellipse">
            <a:avLst/>
          </a:prstGeom>
          <a:solidFill>
            <a:schemeClr val="bg1"/>
          </a:solidFill>
          <a:ln>
            <a:solidFill>
              <a:srgbClr val="85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4</a:t>
            </a:r>
            <a:endParaRPr lang="zh-CN" altLang="en-US" sz="280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8279719" y="1025544"/>
            <a:ext cx="27413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E966A0"/>
                </a:solidFill>
                <a:cs typeface="+mn-lt"/>
              </a:rPr>
              <a:t>Giới thiệu</a:t>
            </a:r>
            <a:endParaRPr lang="en-US" altLang="zh-CN" sz="2400">
              <a:solidFill>
                <a:srgbClr val="E966A0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8287385" y="1972310"/>
            <a:ext cx="31153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E966A0"/>
                </a:solidFill>
                <a:cs typeface="+mn-lt"/>
              </a:rPr>
              <a:t>Bussiness Context</a:t>
            </a:r>
            <a:endParaRPr lang="en-US" altLang="zh-CN" sz="2400">
              <a:solidFill>
                <a:srgbClr val="E966A0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8287339" y="3902715"/>
            <a:ext cx="27413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E966A0"/>
                </a:solidFill>
                <a:cs typeface="+mn-lt"/>
              </a:rPr>
              <a:t>Use Case</a:t>
            </a:r>
            <a:endParaRPr lang="en-US" altLang="zh-CN" sz="2400">
              <a:solidFill>
                <a:srgbClr val="E966A0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8279719" y="2919188"/>
            <a:ext cx="27413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E966A0"/>
                </a:solidFill>
                <a:cs typeface="+mn-lt"/>
              </a:rPr>
              <a:t>Conceptual Model</a:t>
            </a:r>
            <a:endParaRPr lang="en-US" altLang="zh-CN" sz="2400">
              <a:solidFill>
                <a:srgbClr val="E966A0"/>
              </a:solidFill>
              <a:cs typeface="+mn-lt"/>
            </a:endParaRPr>
          </a:p>
        </p:txBody>
      </p:sp>
      <p:sp>
        <p:nvSpPr>
          <p:cNvPr id="4" name="椭圆 13"/>
          <p:cNvSpPr/>
          <p:nvPr>
            <p:custDataLst>
              <p:tags r:id="rId11"/>
            </p:custDataLst>
          </p:nvPr>
        </p:nvSpPr>
        <p:spPr>
          <a:xfrm>
            <a:off x="7494858" y="4868314"/>
            <a:ext cx="661916" cy="661916"/>
          </a:xfrm>
          <a:prstGeom prst="ellipse">
            <a:avLst/>
          </a:prstGeom>
          <a:solidFill>
            <a:schemeClr val="bg1"/>
          </a:solidFill>
          <a:ln>
            <a:solidFill>
              <a:srgbClr val="8585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5</a:t>
            </a:r>
            <a:endParaRPr lang="en-US" altLang="zh-CN" sz="280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27" name="Straight Connector 26"/>
          <p:cNvCxnSpPr>
            <a:stCxn id="14" idx="4"/>
            <a:endCxn id="4" idx="0"/>
          </p:cNvCxnSpPr>
          <p:nvPr/>
        </p:nvCxnSpPr>
        <p:spPr>
          <a:xfrm>
            <a:off x="7818120" y="4507865"/>
            <a:ext cx="7620" cy="360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16"/>
          <p:cNvSpPr txBox="1"/>
          <p:nvPr>
            <p:custDataLst>
              <p:tags r:id="rId12"/>
            </p:custDataLst>
          </p:nvPr>
        </p:nvSpPr>
        <p:spPr>
          <a:xfrm>
            <a:off x="8287339" y="4968894"/>
            <a:ext cx="27413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E966A0"/>
                </a:solidFill>
                <a:cs typeface="+mn-lt"/>
              </a:rPr>
              <a:t>User Story</a:t>
            </a:r>
            <a:endParaRPr lang="en-US" altLang="zh-CN" sz="2400">
              <a:solidFill>
                <a:srgbClr val="E966A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41" y="551903"/>
            <a:ext cx="9220219" cy="5620523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9087" y="3044911"/>
            <a:ext cx="3063875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rgbClr val="E966A0"/>
                </a:solidFill>
                <a:cs typeface="+mn-lt"/>
              </a:rPr>
              <a:t>1. Giới thiệu</a:t>
            </a:r>
            <a:endParaRPr lang="en-US" altLang="zh-CN" sz="4400" b="1">
              <a:solidFill>
                <a:srgbClr val="E966A0"/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2694465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783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714328" y="6400475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32619" y="182723"/>
            <a:ext cx="332676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" panose="020B0604020202020204" pitchFamily="34" charset="0"/>
                <a:cs typeface="+mn-lt"/>
              </a:rPr>
              <a:t>Giới thiệu về GoShop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ea typeface="Arial" panose="020B0604020202020204" pitchFamily="34" charset="0"/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34364" y="1517045"/>
            <a:ext cx="4062433" cy="512302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08965" y="1339850"/>
            <a:ext cx="6210300" cy="17614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Arial" panose="020B0604020202020204" pitchFamily="34" charset="0"/>
              </a:rPr>
              <a:t>GoShop là một website thương mại điện tử với cấu trúc monolithic. </a:t>
            </a:r>
            <a:r>
              <a:rPr lang="en-US" altLang="en-US" sz="1600" dirty="0">
                <a:latin typeface="Arial" panose="020B0604020202020204" pitchFamily="34" charset="0"/>
              </a:rPr>
              <a:t>Dự án </a:t>
            </a:r>
            <a:r>
              <a:rPr lang="" altLang="en-US" sz="1600" dirty="0">
                <a:latin typeface="Arial" panose="020B0604020202020204" pitchFamily="34" charset="0"/>
              </a:rPr>
              <a:t>đư</a:t>
            </a:r>
            <a:r>
              <a:rPr lang="en-US" altLang="en-US" sz="1600" dirty="0">
                <a:latin typeface="Arial" panose="020B0604020202020204" pitchFamily="34" charset="0"/>
              </a:rPr>
              <a:t>ợc xây dựng bằng cách kết hợp các công nghệ hiện </a:t>
            </a:r>
            <a:r>
              <a:rPr lang="" altLang="en-US" sz="1600" dirty="0">
                <a:latin typeface="Arial" panose="020B0604020202020204" pitchFamily="34" charset="0"/>
              </a:rPr>
              <a:t>đ</a:t>
            </a:r>
            <a:r>
              <a:rPr lang="en-US" altLang="en-US" sz="1600" dirty="0">
                <a:latin typeface="Arial" panose="020B0604020202020204" pitchFamily="34" charset="0"/>
              </a:rPr>
              <a:t>ại </a:t>
            </a:r>
            <a:r>
              <a:rPr lang="" altLang="en-US" sz="1600" dirty="0">
                <a:latin typeface="Arial" panose="020B0604020202020204" pitchFamily="34" charset="0"/>
              </a:rPr>
              <a:t>đ</a:t>
            </a:r>
            <a:r>
              <a:rPr lang="en-US" altLang="en-US" sz="1600" dirty="0">
                <a:latin typeface="Arial" panose="020B0604020202020204" pitchFamily="34" charset="0"/>
              </a:rPr>
              <a:t>ể mang lại trải nghiệm hoàn chỉnh cho ng</a:t>
            </a:r>
            <a:r>
              <a:rPr lang="" altLang="en-US" sz="1600" dirty="0">
                <a:latin typeface="Arial" panose="020B0604020202020204" pitchFamily="34" charset="0"/>
              </a:rPr>
              <a:t>ư</a:t>
            </a:r>
            <a:r>
              <a:rPr lang="en-US" altLang="en-US" sz="1600" dirty="0">
                <a:latin typeface="Arial" panose="020B0604020202020204" pitchFamily="34" charset="0"/>
              </a:rPr>
              <a:t>ời dùng.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993472" y="3860801"/>
            <a:ext cx="193947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Frontend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834655" y="4690939"/>
            <a:ext cx="2257113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</a:rPr>
              <a:t>ReactJS</a:t>
            </a: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4293102" y="3860801"/>
            <a:ext cx="1939477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Backend &amp; Services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4133850" y="4730750"/>
            <a:ext cx="2257425" cy="1230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</a:rPr>
              <a:t>NodeJS &amp; ExpressJS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</a:rPr>
              <a:t>Prisma (ORM)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</a:rPr>
              <a:t>Stripe (Payment)</a:t>
            </a:r>
            <a:endParaRPr lang="en-US" altLang="zh-CN" sz="1200" dirty="0">
              <a:latin typeface="Arial" panose="020B0604020202020204" pitchFamily="34" charset="0"/>
            </a:endParaRPr>
          </a:p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Arial" panose="020B0604020202020204" pitchFamily="34" charset="0"/>
              </a:rPr>
              <a:t>Cypress (Testing)</a:t>
            </a: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360435" y="2996020"/>
            <a:ext cx="4235720" cy="432795"/>
          </a:xfrm>
          <a:prstGeom prst="roundRect">
            <a:avLst>
              <a:gd name="adj" fmla="val 50000"/>
            </a:avLst>
          </a:prstGeom>
          <a:solidFill>
            <a:srgbClr val="9193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Technical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2694465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783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339428" y="6337299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72180" y="182880"/>
            <a:ext cx="533082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ea typeface="Arial" panose="020B0604020202020204" pitchFamily="34" charset="0"/>
                <a:cs typeface="+mn-lt"/>
              </a:rPr>
              <a:t>Business Context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  <a:ea typeface="Arial" panose="020B0604020202020204" pitchFamily="34" charset="0"/>
              <a:cs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275080" y="827405"/>
            <a:ext cx="9032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cs typeface="+mn-lt"/>
              </a:rPr>
              <a:t>GoShop </a:t>
            </a:r>
            <a:r>
              <a:rPr lang="" altLang="en-US">
                <a:cs typeface="+mn-lt"/>
              </a:rPr>
              <a:t>đư</a:t>
            </a:r>
            <a:r>
              <a:rPr lang="en-US" altLang="en-US">
                <a:cs typeface="+mn-lt"/>
              </a:rPr>
              <a:t>ợc thiết kế </a:t>
            </a:r>
            <a:r>
              <a:rPr lang="" altLang="en-US">
                <a:cs typeface="+mn-lt"/>
              </a:rPr>
              <a:t>đ</a:t>
            </a:r>
            <a:r>
              <a:rPr lang="en-US" altLang="en-US">
                <a:cs typeface="+mn-lt"/>
              </a:rPr>
              <a:t>ể </a:t>
            </a:r>
            <a:r>
              <a:rPr lang="" altLang="en-US">
                <a:cs typeface="+mn-lt"/>
              </a:rPr>
              <a:t>đ</a:t>
            </a:r>
            <a:r>
              <a:rPr lang="en-US" altLang="en-US">
                <a:cs typeface="+mn-lt"/>
              </a:rPr>
              <a:t>áp ứng nhu cầu mua sắm nội thất trực tuyến ngày càng t</a:t>
            </a:r>
            <a:r>
              <a:rPr lang="" altLang="en-US">
                <a:cs typeface="+mn-lt"/>
              </a:rPr>
              <a:t>ă</a:t>
            </a:r>
            <a:r>
              <a:rPr lang="en-US" altLang="en-US">
                <a:cs typeface="+mn-lt"/>
              </a:rPr>
              <a:t>ng. Nền tảng này tích hợp các kịch bản kinh doanh th</a:t>
            </a:r>
            <a:r>
              <a:rPr lang="" altLang="en-US">
                <a:cs typeface="+mn-lt"/>
              </a:rPr>
              <a:t>ư</a:t>
            </a:r>
            <a:r>
              <a:rPr lang="en-US" altLang="en-US">
                <a:cs typeface="+mn-lt"/>
              </a:rPr>
              <a:t>ơng mại </a:t>
            </a:r>
            <a:r>
              <a:rPr lang="" altLang="en-US">
                <a:cs typeface="+mn-lt"/>
              </a:rPr>
              <a:t>đ</a:t>
            </a:r>
            <a:r>
              <a:rPr lang="en-US" altLang="en-US">
                <a:cs typeface="+mn-lt"/>
              </a:rPr>
              <a:t>iện tử thiết yếu với hai vai trò ng</a:t>
            </a:r>
            <a:r>
              <a:rPr lang="" altLang="en-US">
                <a:cs typeface="+mn-lt"/>
              </a:rPr>
              <a:t>ư</a:t>
            </a:r>
            <a:r>
              <a:rPr lang="en-US" altLang="en-US">
                <a:cs typeface="+mn-lt"/>
              </a:rPr>
              <a:t>ời dùng chính: Ng</a:t>
            </a:r>
            <a:r>
              <a:rPr lang="" altLang="en-US">
                <a:cs typeface="+mn-lt"/>
              </a:rPr>
              <a:t>ư</a:t>
            </a:r>
            <a:r>
              <a:rPr lang="en-US" altLang="en-US">
                <a:cs typeface="+mn-lt"/>
              </a:rPr>
              <a:t>ời mua và Ng</a:t>
            </a:r>
            <a:r>
              <a:rPr lang="" altLang="en-US">
                <a:cs typeface="+mn-lt"/>
              </a:rPr>
              <a:t>ư</a:t>
            </a:r>
            <a:r>
              <a:rPr lang="en-US" altLang="en-US">
                <a:cs typeface="+mn-lt"/>
              </a:rPr>
              <a:t>ời quản trị.</a:t>
            </a:r>
            <a:endParaRPr lang="en-US" altLang="en-US">
              <a:cs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64920" y="2144395"/>
            <a:ext cx="6562725" cy="372046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en-US" sz="2000" b="1">
                <a:cs typeface="+mn-lt"/>
              </a:rPr>
              <a:t>Kịch bản kinh doanh cốt l</a:t>
            </a:r>
            <a:r>
              <a:rPr lang="" altLang="en-US" sz="2000" b="1">
                <a:cs typeface="+mn-lt"/>
              </a:rPr>
              <a:t>õ</a:t>
            </a:r>
            <a:r>
              <a:rPr lang="en-US" altLang="en-US" sz="2000" b="1">
                <a:cs typeface="+mn-lt"/>
              </a:rPr>
              <a:t>i</a:t>
            </a:r>
            <a:endParaRPr lang="en-US" altLang="en-US" sz="2000" b="1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Danh mục sản phẩm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Giỏ hàng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Quy trình thanh toán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Sản phẩm yêu thích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Quản lý tồn kho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Quản lý truy cập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Payment Verification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Order Viewing</a:t>
            </a:r>
            <a:endParaRPr lang="en-US" altLang="zh-CN" sz="20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Account Management</a:t>
            </a:r>
            <a:endParaRPr lang="en-US" altLang="zh-CN" sz="2000">
              <a:cs typeface="+mn-lt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62045" y="2063735"/>
            <a:ext cx="3611222" cy="3723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1447" y="618738"/>
            <a:ext cx="5129285" cy="5620523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12775" y="227647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400" b="1">
                <a:solidFill>
                  <a:srgbClr val="E966A0"/>
                </a:solidFill>
                <a:cs typeface="+mn-lt"/>
                <a:sym typeface="+mn-ea"/>
              </a:rPr>
              <a:t>3. Conceptual Model</a:t>
            </a:r>
            <a:endParaRPr lang="en-US" altLang="zh-CN" sz="4400" b="1">
              <a:solidFill>
                <a:srgbClr val="E966A0"/>
              </a:solidFill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-66952" y="-30521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7356" y="-1656303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3" name="Picture 2" descr="ConceptualMode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54990"/>
            <a:ext cx="12192000" cy="5748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00990" y="280860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400" b="1">
                <a:solidFill>
                  <a:srgbClr val="E966A0"/>
                </a:solidFill>
                <a:cs typeface="+mn-lt"/>
                <a:sym typeface="+mn-ea"/>
              </a:rPr>
              <a:t>4. Use Case</a:t>
            </a:r>
            <a:endParaRPr lang="en-US" altLang="zh-CN" sz="4400" b="1">
              <a:solidFill>
                <a:srgbClr val="E966A0"/>
              </a:solidFill>
              <a:cs typeface="+mn-lt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08913" y="907358"/>
            <a:ext cx="4762500" cy="45711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2694465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619542" y="651779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46114" y="6517940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108710" y="1436370"/>
            <a:ext cx="28536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Danh mục sản phẩm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003300" y="2472055"/>
            <a:ext cx="3064510" cy="3571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47818" y="3085310"/>
            <a:ext cx="11455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</a:rPr>
              <a:t>70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9245886" y="1593451"/>
            <a:ext cx="15494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Giỏ hàng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547735" y="2356485"/>
            <a:ext cx="3249295" cy="40233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92131" y="591485"/>
            <a:ext cx="979188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Use Case Danh mục sản phẩm &amp; Giỏ hàng</a:t>
            </a:r>
            <a:endParaRPr lang="en-US" altLang="en-US" sz="3200" dirty="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53760" y="-368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" name="Picture 2" descr="UC_Product_Catalog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465" y="2073910"/>
            <a:ext cx="5322682" cy="4389120"/>
          </a:xfrm>
          <a:prstGeom prst="rect">
            <a:avLst/>
          </a:prstGeom>
        </p:spPr>
      </p:pic>
      <p:pic>
        <p:nvPicPr>
          <p:cNvPr id="8" name="Picture 7" descr="UC_ShoppingCart.draw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760" y="2225675"/>
            <a:ext cx="6126480" cy="4095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3144680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783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46114" y="6517940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818005" y="1339215"/>
            <a:ext cx="3287395" cy="5226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Quy trình thanh toán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003300" y="2611120"/>
            <a:ext cx="2741930" cy="3571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47818" y="3085310"/>
            <a:ext cx="11455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</a:rPr>
              <a:t>70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8712200" y="1419225"/>
            <a:ext cx="26162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Quản lý tồn kho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547735" y="2523490"/>
            <a:ext cx="2660650" cy="3746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00056" y="337485"/>
            <a:ext cx="979188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Use Case: Quy trình thanh toán &amp; Quản lý tồn kho</a:t>
            </a:r>
            <a:endParaRPr lang="en-US" altLang="en-US" sz="20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32040" y="1050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" name="Picture 2" descr="UC_Inventory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8890" y="2523490"/>
            <a:ext cx="3867150" cy="3533775"/>
          </a:xfrm>
          <a:prstGeom prst="rect">
            <a:avLst/>
          </a:prstGeom>
        </p:spPr>
      </p:pic>
      <p:pic>
        <p:nvPicPr>
          <p:cNvPr id="8" name="Picture 7" descr="UC_PaymentProcess.draw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85" y="2117725"/>
            <a:ext cx="6400800" cy="4420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3121820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783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670139" y="6518575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262380" y="1301750"/>
            <a:ext cx="3021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cs typeface="+mn-lt"/>
              </a:rPr>
              <a:t>Quản lý truy cập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003300" y="2482850"/>
            <a:ext cx="3539490" cy="3571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47818" y="3085310"/>
            <a:ext cx="11455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</a:rPr>
              <a:t>70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8016240" y="1301750"/>
            <a:ext cx="28956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cs typeface="+mn-lt"/>
              </a:rPr>
              <a:t>Quản lý tài khoản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253095" y="2702560"/>
            <a:ext cx="3036570" cy="3746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00056" y="218105"/>
            <a:ext cx="979188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Core Features: Quản lý truy cập &amp; Quản lý tài khoản</a:t>
            </a:r>
            <a:endParaRPr lang="en-US" altLang="en-US" sz="20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32040" y="1050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3" name="Picture 2" descr="UC_AccessControl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45" y="2016125"/>
            <a:ext cx="4297680" cy="4537427"/>
          </a:xfrm>
          <a:prstGeom prst="rect">
            <a:avLst/>
          </a:prstGeom>
        </p:spPr>
      </p:pic>
      <p:pic>
        <p:nvPicPr>
          <p:cNvPr id="8" name="Picture 7" descr="UC_PersonalInformation.draw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1985" y="1873885"/>
            <a:ext cx="4297680" cy="47899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3109755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0783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46114" y="6517940"/>
            <a:ext cx="1941370" cy="1941370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4148" y="-102475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932940" y="1440815"/>
            <a:ext cx="264604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Sản phẩm yêu thích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1003300" y="2702560"/>
            <a:ext cx="2741930" cy="3571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47818" y="3085310"/>
            <a:ext cx="11455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</a:rPr>
              <a:t>70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8547735" y="1435735"/>
            <a:ext cx="233172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Xem đơn hàng</a:t>
            </a:r>
            <a:endParaRPr lang="en-US" altLang="zh-CN" sz="2400" b="1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547735" y="2702560"/>
            <a:ext cx="2660650" cy="3746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00056" y="347645"/>
            <a:ext cx="9791886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Core Features: Sản phẩm yêu thích &amp; Xem đơn hàng</a:t>
            </a:r>
            <a:endParaRPr lang="en-US" altLang="en-US" sz="2000" dirty="0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50840" y="-279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8" name="Picture 7" descr="UC_Favorites.draw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55" y="2164715"/>
            <a:ext cx="4819650" cy="4295775"/>
          </a:xfrm>
          <a:prstGeom prst="rect">
            <a:avLst/>
          </a:prstGeom>
        </p:spPr>
      </p:pic>
      <p:pic>
        <p:nvPicPr>
          <p:cNvPr id="10" name="Picture 9" descr="UC_ManageOrder.draw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115" y="2037080"/>
            <a:ext cx="398983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618738"/>
            <a:ext cx="5380235" cy="5620523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532130" y="2736850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4400" b="1">
                <a:solidFill>
                  <a:srgbClr val="E966A0"/>
                </a:solidFill>
                <a:cs typeface="+mn-lt"/>
                <a:sym typeface="+mn-ea"/>
              </a:rPr>
              <a:t>5. User Story</a:t>
            </a:r>
            <a:endParaRPr lang="en-US" altLang="zh-CN" sz="4400" b="1">
              <a:solidFill>
                <a:srgbClr val="E966A0"/>
              </a:solidFill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0" y="-3259615"/>
            <a:ext cx="3339428" cy="3339428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2184692" y="4956326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946400" y="6858000"/>
            <a:ext cx="1941195" cy="1600835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462878" y="-1363841"/>
            <a:ext cx="1443684" cy="1443684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58750" y="335280"/>
            <a:ext cx="3021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cs typeface="+mn-lt"/>
              </a:rPr>
              <a:t>Là người mua,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2"/>
            </p:custDataLst>
          </p:nvPr>
        </p:nvSpPr>
        <p:spPr>
          <a:xfrm>
            <a:off x="530225" y="795655"/>
            <a:ext cx="5142865" cy="5167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xem danh sách sản phẩm có giao diện hấp dẫn, thông tin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ầy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ủ và hình ảnh có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ộ phân giải cao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ể tôi có thể duyệt thoải mái.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thêm bất kỳ sản phẩm nào từ danh mục hoặc trang chi tiết vào giỏ hàng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ể có thể mua sản phẩm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ó.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cập nhật số l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ợng sản phẩm trong giỏ hàng và tự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ộng xem tổng chi phí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</a:rPr>
              <a:t>đư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ợc cập nhật.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được xem lại lịch sử đơn hàng của mình.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được thêm sản phẩm và xóa sản phẩm ra khỏi danh sách yêu thích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Tôi muốn quản lí thông tin cá nhân trong tài khoản của mình 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9447818" y="3085310"/>
            <a:ext cx="11455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bg1"/>
                </a:solidFill>
                <a:latin typeface="Arial" panose="020B0604020202020204" pitchFamily="34" charset="0"/>
              </a:rPr>
              <a:t>70</a:t>
            </a:r>
            <a:endParaRPr lang="zh-CN" altLang="en-US" sz="2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6116955" y="440690"/>
            <a:ext cx="28956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cs typeface="+mn-lt"/>
              </a:rPr>
              <a:t>Là người quản trị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cs typeface="+mn-lt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7179310" y="901065"/>
            <a:ext cx="4525010" cy="47853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432040" y="1050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6955" y="1050925"/>
            <a:ext cx="6096000" cy="562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Tôi muốn quản l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ý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 sản phẩm (Tạo,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ọc, Cập nhật, Xóa) và số l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ợng hàng tồn kho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ể có thể duy trì l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ợng hàng tồn kho chính xác.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endParaRPr lang="en-US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Tôi muốn xem tất cả giỏ hàng của ng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ời dùng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ể có thể hỗ trợ khách hàng về vấn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ề thanh toán.</a:t>
            </a:r>
            <a:endParaRPr lang="en-US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Tôi muốn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ợc chuyển h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ư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ớng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ến Dashboard sau khi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đă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ng nhập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ể có thể truy cập ngay vào các chức n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ă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ng quản trị.</a:t>
            </a:r>
            <a:endParaRPr lang="en-US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Tôi muốn xem tất cả các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ơn hàng trong hệ thống 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đ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ể có thể theo d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õ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i và quản l</a:t>
            </a:r>
            <a:r>
              <a:rPr lang="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ý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 việc thực hiện.</a:t>
            </a:r>
            <a:endParaRPr lang="en-US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Tôi muốn được quản lí số lượng tồn kho của sản phẩm</a:t>
            </a:r>
            <a:endParaRPr lang="en-US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019" y="243527"/>
            <a:ext cx="10451253" cy="6370945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166728" y="-2442514"/>
            <a:ext cx="3545826" cy="3545826"/>
          </a:xfrm>
          <a:prstGeom prst="ellipse">
            <a:avLst/>
          </a:prstGeom>
          <a:solidFill>
            <a:srgbClr val="E962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418127" y="145701"/>
            <a:ext cx="907747" cy="907747"/>
          </a:xfrm>
          <a:prstGeom prst="ellipse">
            <a:avLst/>
          </a:prstGeom>
          <a:solidFill>
            <a:srgbClr val="C33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000305" y="5804551"/>
            <a:ext cx="3325569" cy="3325569"/>
          </a:xfrm>
          <a:prstGeom prst="ellipse">
            <a:avLst/>
          </a:prstGeom>
          <a:solidFill>
            <a:srgbClr val="8FB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1205516" y="-1339438"/>
            <a:ext cx="1972968" cy="1972968"/>
          </a:xfrm>
          <a:prstGeom prst="ellipse">
            <a:avLst/>
          </a:prstGeom>
          <a:solidFill>
            <a:srgbClr val="90B9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4557" y="2076675"/>
            <a:ext cx="2875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rgbClr val="E966A0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Thanks for</a:t>
            </a:r>
            <a:endParaRPr lang="en-US" altLang="zh-CN" sz="4400" b="1">
              <a:solidFill>
                <a:srgbClr val="E966A0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04557" y="2861101"/>
            <a:ext cx="294894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b="1">
                <a:solidFill>
                  <a:srgbClr val="8585BF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Listening</a:t>
            </a:r>
            <a:endParaRPr lang="en-US" altLang="zh-CN" sz="4800" b="1">
              <a:solidFill>
                <a:srgbClr val="8585BF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4557" y="3867946"/>
            <a:ext cx="563849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Arial" panose="020B0604020202020204" pitchFamily="34" charset="0"/>
                <a:cs typeface="Arial" panose="020B0604020202020204" pitchFamily="34" charset="0"/>
              </a:rPr>
              <a:t>Your text has been concise and beautiful, but the information is inextricably inextricable and needs to be expressed in more words; but please refine the essence of your thought as much as possible, otherwise it is easy to cause the reading pressure of the viewer, which is counterproductive.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2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3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4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5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6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7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8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9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10.xml><?xml version="1.0" encoding="utf-8"?>
<p:tagLst xmlns:p="http://schemas.openxmlformats.org/presentationml/2006/main">
  <p:tag name="KSO_WM_DIAGRAM_VIRTUALLY_FRAME" val="{&quot;height&quot;:327.0574015748031,&quot;left&quot;:590.1462992125984,&quot;top&quot;:112.40149606299212,&quot;width&quot;:337.30354330708667}"/>
</p:tagLst>
</file>

<file path=ppt/tags/tag11.xml><?xml version="1.0" encoding="utf-8"?>
<p:tagLst xmlns:p="http://schemas.openxmlformats.org/presentationml/2006/main">
  <p:tag name="KSO_WM_DIAGRAM_VIRTUALLY_FRAME" val="{&quot;height&quot;:327.0574015748031,&quot;left&quot;:589.5462992125983,&quot;top&quot;:80.00149606299212,&quot;width&quot;:337.30354330708667}"/>
</p:tagLst>
</file>

<file path=ppt/tags/tag12.xml><?xml version="1.0" encoding="utf-8"?>
<p:tagLst xmlns:p="http://schemas.openxmlformats.org/presentationml/2006/main">
  <p:tag name="KSO_WM_DIAGRAM_VIRTUALLY_FRAME" val="{&quot;height&quot;:143.95645669291343,&quot;left&quot;:65.72086614173227,&quot;top&quot;:304.00007874015745,&quot;width&quot;:437.5388188976382}"/>
</p:tagLst>
</file>

<file path=ppt/tags/tag13.xml><?xml version="1.0" encoding="utf-8"?>
<p:tagLst xmlns:p="http://schemas.openxmlformats.org/presentationml/2006/main">
  <p:tag name="KSO_WM_DIAGRAM_VIRTUALLY_FRAME" val="{&quot;height&quot;:143.95645669291343,&quot;left&quot;:65.72086614173227,&quot;top&quot;:304.00007874015745,&quot;width&quot;:437.5388188976382}"/>
</p:tagLst>
</file>

<file path=ppt/tags/tag14.xml><?xml version="1.0" encoding="utf-8"?>
<p:tagLst xmlns:p="http://schemas.openxmlformats.org/presentationml/2006/main">
  <p:tag name="KSO_WM_DIAGRAM_VIRTUALLY_FRAME" val="{&quot;height&quot;:143.95645669291343,&quot;left&quot;:65.72086614173227,&quot;top&quot;:304.00007874015745,&quot;width&quot;:437.5388188976382}"/>
</p:tagLst>
</file>

<file path=ppt/tags/tag15.xml><?xml version="1.0" encoding="utf-8"?>
<p:tagLst xmlns:p="http://schemas.openxmlformats.org/presentationml/2006/main">
  <p:tag name="KSO_WM_DIAGRAM_VIRTUALLY_FRAME" val="{&quot;height&quot;:143.95645669291343,&quot;left&quot;:65.72086614173227,&quot;top&quot;:304.00007874015745,&quot;width&quot;:437.5388188976382}"/>
</p:tagLst>
</file>

<file path=ppt/tags/tag16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17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18.xml><?xml version="1.0" encoding="utf-8"?>
<p:tagLst xmlns:p="http://schemas.openxmlformats.org/presentationml/2006/main">
  <p:tag name="KSO_WM_DIAGRAM_VIRTUALLY_FRAME" val="{&quot;height&quot;:389.35094488188975,&quot;left&quot;:79.00787401574803,&quot;top&quot;:74.09047244094486,&quot;width&quot;:801.9842519685038}"/>
</p:tagLst>
</file>

<file path=ppt/tags/tag19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0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1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2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3.xml><?xml version="1.0" encoding="utf-8"?>
<p:tagLst xmlns:p="http://schemas.openxmlformats.org/presentationml/2006/main">
  <p:tag name="KSO_WM_DIAGRAM_VIRTUALLY_FRAME" val="{&quot;height&quot;:389.35094488188975,&quot;left&quot;:79.00787401574803,&quot;top&quot;:74.09047244094486,&quot;width&quot;:801.9842519685038}"/>
</p:tagLst>
</file>

<file path=ppt/tags/tag24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5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6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7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28.xml><?xml version="1.0" encoding="utf-8"?>
<p:tagLst xmlns:p="http://schemas.openxmlformats.org/presentationml/2006/main">
  <p:tag name="KSO_WM_DIAGRAM_VIRTUALLY_FRAME" val="{&quot;height&quot;:389.35094488188975,&quot;left&quot;:79.00787401574803,&quot;top&quot;:74.09047244094486,&quot;width&quot;:801.9842519685038}"/>
</p:tagLst>
</file>

<file path=ppt/tags/tag29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0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1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2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3.xml><?xml version="1.0" encoding="utf-8"?>
<p:tagLst xmlns:p="http://schemas.openxmlformats.org/presentationml/2006/main">
  <p:tag name="KSO_WM_DIAGRAM_VIRTUALLY_FRAME" val="{&quot;height&quot;:389.35094488188975,&quot;left&quot;:79.00787401574803,&quot;top&quot;:74.09047244094486,&quot;width&quot;:801.9842519685038}"/>
</p:tagLst>
</file>

<file path=ppt/tags/tag34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5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6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7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38.xml><?xml version="1.0" encoding="utf-8"?>
<p:tagLst xmlns:p="http://schemas.openxmlformats.org/presentationml/2006/main">
  <p:tag name="KSO_WM_DIAGRAM_VIRTUALLY_FRAME" val="{&quot;height&quot;:389.35094488188975,&quot;left&quot;:79.00787401574803,&quot;top&quot;:74.09047244094486,&quot;width&quot;:801.9842519685038}"/>
</p:tagLst>
</file>

<file path=ppt/tags/tag39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ags/tag40.xml><?xml version="1.0" encoding="utf-8"?>
<p:tagLst xmlns:p="http://schemas.openxmlformats.org/presentationml/2006/main">
  <p:tag name="KSO_WM_DIAGRAM_VIRTUALLY_FRAME" val="{&quot;height&quot;:389.35094488188975,&quot;left&quot;:79,&quot;top&quot;:74.09047244094486,&quot;width&quot;:801.992125984251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2516</Words>
  <Application>WPS Presentation</Application>
  <PresentationFormat>宽屏</PresentationFormat>
  <Paragraphs>122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Century Gothic</vt:lpstr>
      <vt:lpstr>Open Sans</vt:lpstr>
      <vt:lpstr>Microsoft YaHei</vt:lpstr>
      <vt:lpstr>Arial Unicode MS</vt:lpstr>
      <vt:lpstr>Calibri</vt:lpstr>
      <vt:lpstr>Segoe Print</vt:lpstr>
      <vt:lpstr>Arial</vt:lpstr>
      <vt:lpstr>Cambria</vt:lpstr>
      <vt:lpstr>Candara Light</vt:lpstr>
      <vt:lpstr>Calibri Light</vt:lpstr>
      <vt:lpstr>Candara</vt:lpstr>
      <vt:lpstr>Corbel</vt:lpstr>
      <vt:lpstr>Corbel Light</vt:lpstr>
      <vt:lpstr>Arial Narrow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Nguyễn Hữu Anh Khoa</cp:lastModifiedBy>
  <cp:revision>20</cp:revision>
  <dcterms:created xsi:type="dcterms:W3CDTF">2019-11-24T03:48:00Z</dcterms:created>
  <dcterms:modified xsi:type="dcterms:W3CDTF">2025-09-24T14:54:27Z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4C26B0C3A6CB4FC696367FB64E308DAE_13</vt:lpwstr>
  </property>
</Properties>
</file>