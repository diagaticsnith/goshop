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8288000" cy="10287000"/>
  <p:notesSz cx="6858000" cy="9144000"/>
  <p:embeddedFontLst>
    <p:embeddedFont>
      <p:font typeface="Noto Sans Bold" panose="020B0604020202020204" charset="0"/>
      <p:regular r:id="rId24"/>
    </p:embeddedFont>
    <p:embeddedFont>
      <p:font typeface="Times New Roman Bold" panose="02020803070505020304" pitchFamily="18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0" autoAdjust="0"/>
  </p:normalViewPr>
  <p:slideViewPr>
    <p:cSldViewPr>
      <p:cViewPr>
        <p:scale>
          <a:sx n="33" d="100"/>
          <a:sy n="33" d="100"/>
        </p:scale>
        <p:origin x="876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18.svg"/><Relationship Id="rId7" Type="http://schemas.openxmlformats.org/officeDocument/2006/relationships/image" Target="../media/image20.svg"/><Relationship Id="rId12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4.svg"/><Relationship Id="rId5" Type="http://schemas.openxmlformats.org/officeDocument/2006/relationships/image" Target="../media/image10.sv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30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12.svg"/><Relationship Id="rId5" Type="http://schemas.openxmlformats.org/officeDocument/2006/relationships/image" Target="../media/image28.svg"/><Relationship Id="rId15" Type="http://schemas.openxmlformats.org/officeDocument/2006/relationships/image" Target="../media/image24.svg"/><Relationship Id="rId10" Type="http://schemas.openxmlformats.org/officeDocument/2006/relationships/image" Target="../media/image11.png"/><Relationship Id="rId4" Type="http://schemas.openxmlformats.org/officeDocument/2006/relationships/image" Target="../media/image27.png"/><Relationship Id="rId9" Type="http://schemas.openxmlformats.org/officeDocument/2006/relationships/image" Target="../media/image26.svg"/><Relationship Id="rId1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22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svg"/><Relationship Id="rId7" Type="http://schemas.openxmlformats.org/officeDocument/2006/relationships/image" Target="../media/image4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5" Type="http://schemas.openxmlformats.org/officeDocument/2006/relationships/image" Target="../media/image38.sv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2887" y="-4247682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369818" y="4028359"/>
            <a:ext cx="7803269" cy="5347823"/>
            <a:chOff x="0" y="0"/>
            <a:chExt cx="10404359" cy="7130431"/>
          </a:xfrm>
        </p:grpSpPr>
        <p:sp>
          <p:nvSpPr>
            <p:cNvPr id="4" name="Freeform 4"/>
            <p:cNvSpPr/>
            <p:nvPr/>
          </p:nvSpPr>
          <p:spPr>
            <a:xfrm>
              <a:off x="2349735" y="0"/>
              <a:ext cx="4935457" cy="6298147"/>
            </a:xfrm>
            <a:custGeom>
              <a:avLst/>
              <a:gdLst/>
              <a:ahLst/>
              <a:cxnLst/>
              <a:rect l="l" t="t" r="r" b="b"/>
              <a:pathLst>
                <a:path w="4935457" h="6298147">
                  <a:moveTo>
                    <a:pt x="0" y="0"/>
                  </a:moveTo>
                  <a:lnTo>
                    <a:pt x="4935457" y="0"/>
                  </a:lnTo>
                  <a:lnTo>
                    <a:pt x="4935457" y="6298147"/>
                  </a:lnTo>
                  <a:lnTo>
                    <a:pt x="0" y="6298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3939452"/>
              <a:ext cx="4957736" cy="3190979"/>
            </a:xfrm>
            <a:custGeom>
              <a:avLst/>
              <a:gdLst/>
              <a:ahLst/>
              <a:cxnLst/>
              <a:rect l="l" t="t" r="r" b="b"/>
              <a:pathLst>
                <a:path w="4957736" h="3190979">
                  <a:moveTo>
                    <a:pt x="0" y="0"/>
                  </a:moveTo>
                  <a:lnTo>
                    <a:pt x="4957736" y="0"/>
                  </a:lnTo>
                  <a:lnTo>
                    <a:pt x="4957736" y="3190979"/>
                  </a:lnTo>
                  <a:lnTo>
                    <a:pt x="0" y="3190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6561431" y="1657297"/>
              <a:ext cx="3842929" cy="5257738"/>
            </a:xfrm>
            <a:custGeom>
              <a:avLst/>
              <a:gdLst/>
              <a:ahLst/>
              <a:cxnLst/>
              <a:rect l="l" t="t" r="r" b="b"/>
              <a:pathLst>
                <a:path w="3842929" h="5257738">
                  <a:moveTo>
                    <a:pt x="0" y="0"/>
                  </a:moveTo>
                  <a:lnTo>
                    <a:pt x="3842928" y="0"/>
                  </a:lnTo>
                  <a:lnTo>
                    <a:pt x="3842928" y="5257738"/>
                  </a:lnTo>
                  <a:lnTo>
                    <a:pt x="0" y="5257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641834" y="335424"/>
            <a:ext cx="13256410" cy="211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18"/>
              </a:lnSpc>
            </a:pPr>
            <a:r>
              <a:rPr lang="en-US" sz="12013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ỨNG DỤNG WEB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1834" y="2194560"/>
            <a:ext cx="15617466" cy="183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49"/>
              </a:lnSpc>
            </a:pPr>
            <a:r>
              <a:rPr lang="en-US" sz="10463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THƯƠNG MẠI ĐIỆN TỬ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1834" y="4911725"/>
            <a:ext cx="8677086" cy="411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THÀNH VIÊN NHÓM</a:t>
            </a:r>
          </a:p>
          <a:p>
            <a:pPr marL="1079501" lvl="1" indent="-539750" algn="l">
              <a:lnSpc>
                <a:spcPts val="6500"/>
              </a:lnSpc>
              <a:buAutoNum type="arabicPeriod"/>
            </a:pPr>
            <a:r>
              <a:rPr lang="en-US" sz="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Hữu Anh Khoa</a:t>
            </a:r>
          </a:p>
          <a:p>
            <a:pPr marL="1079501" lvl="1" indent="-539750" algn="l">
              <a:lnSpc>
                <a:spcPts val="6500"/>
              </a:lnSpc>
              <a:buAutoNum type="arabicPeriod"/>
            </a:pPr>
            <a:r>
              <a:rPr lang="en-US" sz="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Đỗ Tấn Lộc</a:t>
            </a:r>
          </a:p>
          <a:p>
            <a:pPr marL="1079501" lvl="1" indent="-539750" algn="l">
              <a:lnSpc>
                <a:spcPts val="6500"/>
              </a:lnSpc>
              <a:buAutoNum type="arabicPeriod"/>
            </a:pPr>
            <a:r>
              <a:rPr lang="en-US" sz="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Võ Văn Luân</a:t>
            </a:r>
          </a:p>
          <a:p>
            <a:pPr marL="1079501" lvl="1" indent="-539750" algn="l">
              <a:lnSpc>
                <a:spcPts val="6500"/>
              </a:lnSpc>
              <a:buAutoNum type="arabicPeriod"/>
            </a:pPr>
            <a:r>
              <a:rPr lang="en-US" sz="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 Duy Tín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067" y="3617795"/>
            <a:ext cx="7315525" cy="6038634"/>
          </a:xfrm>
          <a:custGeom>
            <a:avLst/>
            <a:gdLst/>
            <a:ahLst/>
            <a:cxnLst/>
            <a:rect l="l" t="t" r="r" b="b"/>
            <a:pathLst>
              <a:path w="7315525" h="6038634">
                <a:moveTo>
                  <a:pt x="0" y="0"/>
                </a:moveTo>
                <a:lnTo>
                  <a:pt x="7315526" y="0"/>
                </a:lnTo>
                <a:lnTo>
                  <a:pt x="7315526" y="6038633"/>
                </a:lnTo>
                <a:lnTo>
                  <a:pt x="0" y="6038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903627" y="2189373"/>
            <a:ext cx="9947034" cy="5234709"/>
            <a:chOff x="0" y="0"/>
            <a:chExt cx="2718048" cy="1430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18048" cy="1430395"/>
            </a:xfrm>
            <a:custGeom>
              <a:avLst/>
              <a:gdLst/>
              <a:ahLst/>
              <a:cxnLst/>
              <a:rect l="l" t="t" r="r" b="b"/>
              <a:pathLst>
                <a:path w="2718048" h="1430395">
                  <a:moveTo>
                    <a:pt x="2403162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667415"/>
                  </a:cubicBezTo>
                  <a:cubicBezTo>
                    <a:pt x="0" y="1105364"/>
                    <a:pt x="66279" y="1200505"/>
                    <a:pt x="162037" y="1244647"/>
                  </a:cubicBezTo>
                  <a:lnTo>
                    <a:pt x="162037" y="1430395"/>
                  </a:lnTo>
                  <a:lnTo>
                    <a:pt x="353844" y="1270928"/>
                  </a:lnTo>
                  <a:lnTo>
                    <a:pt x="2403162" y="1270928"/>
                  </a:lnTo>
                  <a:cubicBezTo>
                    <a:pt x="2591611" y="1270928"/>
                    <a:pt x="2718048" y="1147415"/>
                    <a:pt x="2718048" y="667290"/>
                  </a:cubicBezTo>
                  <a:cubicBezTo>
                    <a:pt x="2718059" y="123512"/>
                    <a:pt x="2591611" y="0"/>
                    <a:pt x="240316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2718048" cy="1163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053062" y="2680936"/>
            <a:ext cx="9648165" cy="403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63"/>
              </a:lnSpc>
              <a:spcBef>
                <a:spcPct val="0"/>
              </a:spcBef>
            </a:pPr>
            <a:r>
              <a:rPr lang="en-US" sz="15060" b="1">
                <a:solidFill>
                  <a:schemeClr val="tx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Giới thiệu đề tài</a:t>
            </a:r>
          </a:p>
        </p:txBody>
      </p:sp>
      <p:sp>
        <p:nvSpPr>
          <p:cNvPr id="7" name="Freeform 7"/>
          <p:cNvSpPr/>
          <p:nvPr/>
        </p:nvSpPr>
        <p:spPr>
          <a:xfrm>
            <a:off x="16701227" y="1436430"/>
            <a:ext cx="580336" cy="1015906"/>
          </a:xfrm>
          <a:custGeom>
            <a:avLst/>
            <a:gdLst/>
            <a:ahLst/>
            <a:cxnLst/>
            <a:rect l="l" t="t" r="r" b="b"/>
            <a:pathLst>
              <a:path w="580336" h="1015906">
                <a:moveTo>
                  <a:pt x="0" y="0"/>
                </a:moveTo>
                <a:lnTo>
                  <a:pt x="580336" y="0"/>
                </a:lnTo>
                <a:lnTo>
                  <a:pt x="580336" y="1015906"/>
                </a:lnTo>
                <a:lnTo>
                  <a:pt x="0" y="1015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120891" y="520747"/>
            <a:ext cx="1160673" cy="1160673"/>
          </a:xfrm>
          <a:custGeom>
            <a:avLst/>
            <a:gdLst/>
            <a:ahLst/>
            <a:cxnLst/>
            <a:rect l="l" t="t" r="r" b="b"/>
            <a:pathLst>
              <a:path w="1160673" h="1160673">
                <a:moveTo>
                  <a:pt x="0" y="0"/>
                </a:moveTo>
                <a:lnTo>
                  <a:pt x="1160672" y="0"/>
                </a:lnTo>
                <a:lnTo>
                  <a:pt x="1160672" y="1160673"/>
                </a:lnTo>
                <a:lnTo>
                  <a:pt x="0" y="1160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286274" y="8369191"/>
            <a:ext cx="4152379" cy="2574475"/>
          </a:xfrm>
          <a:custGeom>
            <a:avLst/>
            <a:gdLst/>
            <a:ahLst/>
            <a:cxnLst/>
            <a:rect l="l" t="t" r="r" b="b"/>
            <a:pathLst>
              <a:path w="4152379" h="2574475">
                <a:moveTo>
                  <a:pt x="0" y="0"/>
                </a:moveTo>
                <a:lnTo>
                  <a:pt x="4152379" y="0"/>
                </a:lnTo>
                <a:lnTo>
                  <a:pt x="4152379" y="2574475"/>
                </a:lnTo>
                <a:lnTo>
                  <a:pt x="0" y="25744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83110" y="7424082"/>
            <a:ext cx="4152379" cy="2574475"/>
          </a:xfrm>
          <a:custGeom>
            <a:avLst/>
            <a:gdLst/>
            <a:ahLst/>
            <a:cxnLst/>
            <a:rect l="l" t="t" r="r" b="b"/>
            <a:pathLst>
              <a:path w="4152379" h="2574475">
                <a:moveTo>
                  <a:pt x="0" y="0"/>
                </a:moveTo>
                <a:lnTo>
                  <a:pt x="4152380" y="0"/>
                </a:lnTo>
                <a:lnTo>
                  <a:pt x="4152380" y="2574475"/>
                </a:lnTo>
                <a:lnTo>
                  <a:pt x="0" y="25744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31569" y="1866900"/>
            <a:ext cx="15224863" cy="739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0"/>
              </a:lnSpc>
              <a:spcBef>
                <a:spcPct val="0"/>
              </a:spcBef>
            </a:pPr>
            <a:r>
              <a:rPr lang="en-US" sz="5000" spc="-27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Đề tài tập trung vào dự án GoShop, một ứng dụng web thương mại điện tử chuyên kinh doanh nội thất.</a:t>
            </a:r>
          </a:p>
          <a:p>
            <a:pPr algn="l">
              <a:lnSpc>
                <a:spcPts val="6450"/>
              </a:lnSpc>
              <a:spcBef>
                <a:spcPct val="0"/>
              </a:spcBef>
            </a:pPr>
            <a:r>
              <a:rPr lang="en-US" sz="5000" spc="-27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Dự án được xây dựng theo mô hình Full-stack với Backend (TypeScript/Node.js) và Frontend (Vite + React/TS).</a:t>
            </a:r>
          </a:p>
          <a:p>
            <a:pPr algn="l">
              <a:lnSpc>
                <a:spcPts val="6450"/>
              </a:lnSpc>
              <a:spcBef>
                <a:spcPct val="0"/>
              </a:spcBef>
            </a:pPr>
            <a:r>
              <a:rPr lang="en-US" sz="5000" spc="-27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Quy trình phát triển phần mềm kết hợp giữa mô hình Agile (chia thành các Sprint) và quy trình CI/CD (Tích hợp và Triển khai liên tục) để đảm bảo chất lượng liên tục.</a:t>
            </a:r>
          </a:p>
          <a:p>
            <a:pPr algn="l">
              <a:lnSpc>
                <a:spcPts val="6450"/>
              </a:lnSpc>
              <a:spcBef>
                <a:spcPct val="0"/>
              </a:spcBef>
            </a:pPr>
            <a:r>
              <a:rPr lang="en-US" sz="5000" spc="-27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Kiểm thử phần mềm được xác định là trọng tâm chính để đảm bảo chất lượng và độ ổn định.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98464" y="468523"/>
            <a:ext cx="9091072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TỔNG QUAN ĐỀ TÀI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28720" y="800100"/>
            <a:ext cx="14630560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THÁCH THỨC TRONG KIỂM THỬ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1601" y="2212122"/>
            <a:ext cx="15384832" cy="6924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9" lvl="1" indent="-431800" algn="just">
              <a:lnSpc>
                <a:spcPts val="5999"/>
              </a:lnSpc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 tương thích: Do sử dụng TypeScript/JavaScript và HTML, hệ thống cần hoạt động đúng trên nhiều trình duyệt (Chrome, Firefox, Safari, Edge) và thiết bị khác nhau.</a:t>
            </a:r>
          </a:p>
          <a:p>
            <a:pPr marL="863599" lvl="1" indent="-431800" algn="just">
              <a:lnSpc>
                <a:spcPts val="5999"/>
              </a:lnSpc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 liệu và Logic: Đảm bảo tính chặt chẽ của dữ liệu (do đặc thù TypeScript) và xử lý các giao dịch mua sắm phức tạp.</a:t>
            </a:r>
          </a:p>
          <a:p>
            <a:pPr marL="863599" lvl="1" indent="-431800" algn="just">
              <a:lnSpc>
                <a:spcPts val="5999"/>
              </a:lnSpc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Rủi ro tích hợp: Khả năng phát sinh lỗi khi tích hợp cổng thanh toán Stripe và các module tìm kiếm/lọc hoạt động chậm.</a:t>
            </a:r>
          </a:p>
          <a:p>
            <a:pPr marL="863599" lvl="1" indent="-431800" algn="just">
              <a:lnSpc>
                <a:spcPts val="5999"/>
              </a:lnSpc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Môi trường: Rủi ro về môi trường kiểm thử chưa được cấu hình đúng hoặc thiếu dữ liệu mẫu.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57067" y="1718508"/>
            <a:ext cx="16373864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 HƯỚNG TIẾP CẬN &amp; ĐÓNG GÓP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31567" y="3429000"/>
            <a:ext cx="15080033" cy="4667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9" lvl="1" indent="-431800" algn="just">
              <a:lnSpc>
                <a:spcPts val="5159"/>
              </a:lnSpc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Áp dụng mô hình V-Model, thực hiện kiểm thử song song với phát triển.</a:t>
            </a:r>
          </a:p>
          <a:p>
            <a:pPr marL="863599" lvl="1" indent="-431800" algn="just">
              <a:lnSpc>
                <a:spcPts val="5159"/>
              </a:lnSpc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 dụng đa dạng các cấp độ kiểm thử: Unit Test, Integration Test, System Test và UAT.</a:t>
            </a:r>
          </a:p>
          <a:p>
            <a:pPr marL="863599" lvl="1" indent="-431800" algn="just">
              <a:lnSpc>
                <a:spcPts val="5159"/>
              </a:lnSpc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 động hóa kiểm thử thông qua GitHub Actions cho CI/CD.</a:t>
            </a:r>
          </a:p>
          <a:p>
            <a:pPr marL="863599" lvl="1" indent="-431800" algn="just">
              <a:lnSpc>
                <a:spcPts val="5159"/>
              </a:lnSpc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hợp kiểm thử thủ công và tự động (Selenium cho UI, JMeter cho hiệu năng).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E2F56B72-699A-BA1B-7FDF-4F53DBDAC2A4}"/>
              </a:ext>
            </a:extLst>
          </p:cNvPr>
          <p:cNvSpPr/>
          <p:nvPr/>
        </p:nvSpPr>
        <p:spPr>
          <a:xfrm>
            <a:off x="15622613" y="7569471"/>
            <a:ext cx="4152379" cy="2574475"/>
          </a:xfrm>
          <a:custGeom>
            <a:avLst/>
            <a:gdLst/>
            <a:ahLst/>
            <a:cxnLst/>
            <a:rect l="l" t="t" r="r" b="b"/>
            <a:pathLst>
              <a:path w="4152379" h="2574475">
                <a:moveTo>
                  <a:pt x="0" y="0"/>
                </a:moveTo>
                <a:lnTo>
                  <a:pt x="4152380" y="0"/>
                </a:lnTo>
                <a:lnTo>
                  <a:pt x="4152380" y="2574475"/>
                </a:lnTo>
                <a:lnTo>
                  <a:pt x="0" y="2574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2650" y="1846563"/>
            <a:ext cx="11081750" cy="7228302"/>
          </a:xfrm>
          <a:custGeom>
            <a:avLst/>
            <a:gdLst/>
            <a:ahLst/>
            <a:cxnLst/>
            <a:rect l="l" t="t" r="r" b="b"/>
            <a:pathLst>
              <a:path w="8245530" h="6281594">
                <a:moveTo>
                  <a:pt x="0" y="0"/>
                </a:moveTo>
                <a:lnTo>
                  <a:pt x="8245530" y="0"/>
                </a:lnTo>
                <a:lnTo>
                  <a:pt x="8245530" y="6281594"/>
                </a:lnTo>
                <a:lnTo>
                  <a:pt x="0" y="628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220987-DA9E-0ECC-48CF-F87B1E8DD074}"/>
              </a:ext>
            </a:extLst>
          </p:cNvPr>
          <p:cNvGrpSpPr/>
          <p:nvPr/>
        </p:nvGrpSpPr>
        <p:grpSpPr>
          <a:xfrm>
            <a:off x="11887200" y="4216196"/>
            <a:ext cx="6088503" cy="6070804"/>
            <a:chOff x="10975648" y="2244092"/>
            <a:chExt cx="6088503" cy="6070804"/>
          </a:xfrm>
        </p:grpSpPr>
        <p:sp>
          <p:nvSpPr>
            <p:cNvPr id="3" name="Freeform 3"/>
            <p:cNvSpPr/>
            <p:nvPr/>
          </p:nvSpPr>
          <p:spPr>
            <a:xfrm>
              <a:off x="10975648" y="3289114"/>
              <a:ext cx="6088503" cy="5025782"/>
            </a:xfrm>
            <a:custGeom>
              <a:avLst/>
              <a:gdLst/>
              <a:ahLst/>
              <a:cxnLst/>
              <a:rect l="l" t="t" r="r" b="b"/>
              <a:pathLst>
                <a:path w="6088503" h="5025782">
                  <a:moveTo>
                    <a:pt x="0" y="0"/>
                  </a:moveTo>
                  <a:lnTo>
                    <a:pt x="6088503" y="0"/>
                  </a:lnTo>
                  <a:lnTo>
                    <a:pt x="6088503" y="5025782"/>
                  </a:lnTo>
                  <a:lnTo>
                    <a:pt x="0" y="5025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2874598" y="2244092"/>
              <a:ext cx="2290603" cy="3057843"/>
            </a:xfrm>
            <a:custGeom>
              <a:avLst/>
              <a:gdLst/>
              <a:ahLst/>
              <a:cxnLst/>
              <a:rect l="l" t="t" r="r" b="b"/>
              <a:pathLst>
                <a:path w="2290603" h="3057843">
                  <a:moveTo>
                    <a:pt x="0" y="0"/>
                  </a:moveTo>
                  <a:lnTo>
                    <a:pt x="2290603" y="0"/>
                  </a:lnTo>
                  <a:lnTo>
                    <a:pt x="2290603" y="3057843"/>
                  </a:lnTo>
                  <a:lnTo>
                    <a:pt x="0" y="3057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354968" y="1549588"/>
            <a:ext cx="907682" cy="1588939"/>
          </a:xfrm>
          <a:custGeom>
            <a:avLst/>
            <a:gdLst/>
            <a:ahLst/>
            <a:cxnLst/>
            <a:rect l="l" t="t" r="r" b="b"/>
            <a:pathLst>
              <a:path w="907682" h="1588939">
                <a:moveTo>
                  <a:pt x="0" y="0"/>
                </a:moveTo>
                <a:lnTo>
                  <a:pt x="907682" y="0"/>
                </a:lnTo>
                <a:lnTo>
                  <a:pt x="907682" y="1588939"/>
                </a:lnTo>
                <a:lnTo>
                  <a:pt x="0" y="15889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89804" y="722741"/>
            <a:ext cx="1160673" cy="1160673"/>
          </a:xfrm>
          <a:custGeom>
            <a:avLst/>
            <a:gdLst/>
            <a:ahLst/>
            <a:cxnLst/>
            <a:rect l="l" t="t" r="r" b="b"/>
            <a:pathLst>
              <a:path w="1160673" h="1160673">
                <a:moveTo>
                  <a:pt x="0" y="0"/>
                </a:moveTo>
                <a:lnTo>
                  <a:pt x="1160673" y="0"/>
                </a:lnTo>
                <a:lnTo>
                  <a:pt x="1160673" y="1160672"/>
                </a:lnTo>
                <a:lnTo>
                  <a:pt x="0" y="1160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66070" y="8572500"/>
            <a:ext cx="2094881" cy="1298826"/>
          </a:xfrm>
          <a:custGeom>
            <a:avLst/>
            <a:gdLst/>
            <a:ahLst/>
            <a:cxnLst/>
            <a:rect l="l" t="t" r="r" b="b"/>
            <a:pathLst>
              <a:path w="2094881" h="1298826">
                <a:moveTo>
                  <a:pt x="0" y="0"/>
                </a:moveTo>
                <a:lnTo>
                  <a:pt x="2094882" y="0"/>
                </a:lnTo>
                <a:lnTo>
                  <a:pt x="2094882" y="1298827"/>
                </a:lnTo>
                <a:lnTo>
                  <a:pt x="0" y="12988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543798" y="1445898"/>
            <a:ext cx="2094881" cy="1298826"/>
          </a:xfrm>
          <a:custGeom>
            <a:avLst/>
            <a:gdLst/>
            <a:ahLst/>
            <a:cxnLst/>
            <a:rect l="l" t="t" r="r" b="b"/>
            <a:pathLst>
              <a:path w="2094881" h="1298826">
                <a:moveTo>
                  <a:pt x="0" y="0"/>
                </a:moveTo>
                <a:lnTo>
                  <a:pt x="2094881" y="0"/>
                </a:lnTo>
                <a:lnTo>
                  <a:pt x="2094881" y="1298826"/>
                </a:lnTo>
                <a:lnTo>
                  <a:pt x="0" y="12988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54896" y="4082720"/>
            <a:ext cx="10758754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8000" b="1">
                <a:solidFill>
                  <a:schemeClr val="tx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 HOẠCH KIỂM THỬ (CÁC ĐỐI TƯỢNG &amp; CHIẾN LƯỢC)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48286" y="968375"/>
            <a:ext cx="10991426" cy="246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TỔNG QUAN QUY TRÌNH </a:t>
            </a:r>
          </a:p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V-MODELS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31567" y="4381500"/>
            <a:ext cx="15224863" cy="400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159"/>
              </a:lnSpc>
              <a:spcBef>
                <a:spcPct val="0"/>
              </a:spcBef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Quy trình tuân thủ mô hình V-Model, nhấn mạnh tính đối xứng giữa các giai đoạn phát triển và kiểm thử.</a:t>
            </a:r>
          </a:p>
          <a:p>
            <a:pPr marL="863599" lvl="1" indent="-431800" algn="ctr">
              <a:lnSpc>
                <a:spcPts val="5159"/>
              </a:lnSpc>
              <a:spcBef>
                <a:spcPct val="0"/>
              </a:spcBef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cặp đối xứng bao gồm: Thu thập yêu cầu ↔ Kiểm thử chấp nhận; Phân tích yêu cầu ↔ Kiểm thử hệ thống; Thiết kế hệ thống ↔ Kiểm thử tích hợp; Thiết kế chi tiết ↔ Kiểm thử đơn vị.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53012FD-73EF-D943-2909-319E370C2F54}"/>
              </a:ext>
            </a:extLst>
          </p:cNvPr>
          <p:cNvSpPr/>
          <p:nvPr/>
        </p:nvSpPr>
        <p:spPr>
          <a:xfrm>
            <a:off x="15697200" y="7353300"/>
            <a:ext cx="2408981" cy="2938072"/>
          </a:xfrm>
          <a:custGeom>
            <a:avLst/>
            <a:gdLst/>
            <a:ahLst/>
            <a:cxnLst/>
            <a:rect l="l" t="t" r="r" b="b"/>
            <a:pathLst>
              <a:path w="5642129" h="6281723">
                <a:moveTo>
                  <a:pt x="0" y="0"/>
                </a:moveTo>
                <a:lnTo>
                  <a:pt x="5642129" y="0"/>
                </a:lnTo>
                <a:lnTo>
                  <a:pt x="5642129" y="6281723"/>
                </a:lnTo>
                <a:lnTo>
                  <a:pt x="0" y="6281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78B2DDF-00D2-1AF8-7EAD-3BBF35307224}"/>
              </a:ext>
            </a:extLst>
          </p:cNvPr>
          <p:cNvSpPr/>
          <p:nvPr/>
        </p:nvSpPr>
        <p:spPr>
          <a:xfrm>
            <a:off x="-542389" y="1237739"/>
            <a:ext cx="3009144" cy="1132532"/>
          </a:xfrm>
          <a:custGeom>
            <a:avLst/>
            <a:gdLst/>
            <a:ahLst/>
            <a:cxnLst/>
            <a:rect l="l" t="t" r="r" b="b"/>
            <a:pathLst>
              <a:path w="3009144" h="1132532">
                <a:moveTo>
                  <a:pt x="0" y="0"/>
                </a:moveTo>
                <a:lnTo>
                  <a:pt x="3009144" y="0"/>
                </a:lnTo>
                <a:lnTo>
                  <a:pt x="3009144" y="1132533"/>
                </a:lnTo>
                <a:lnTo>
                  <a:pt x="0" y="1132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74033" y="571500"/>
            <a:ext cx="13139932" cy="2460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TÍCH YÊU CẦU</a:t>
            </a:r>
          </a:p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CHẤP NHẬN (UAT)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31569" y="4508299"/>
            <a:ext cx="15224863" cy="266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159"/>
              </a:lnSpc>
              <a:spcBef>
                <a:spcPct val="0"/>
              </a:spcBef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dựa trên nhu cầu thực tế của người dùng (User Story) và tiêu chí nghiệm thu.</a:t>
            </a:r>
          </a:p>
          <a:p>
            <a:pPr marL="863599" lvl="1" indent="-431800" algn="ctr">
              <a:lnSpc>
                <a:spcPts val="5159"/>
              </a:lnSpc>
              <a:spcBef>
                <a:spcPct val="0"/>
              </a:spcBef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tiêu: Xác nhận phần mềm đáp ứng mục tiêu kinh doanh cho Khách hàng (mua sắm) và Quản trị viên (quản lý).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A8FF81-B93A-247A-24B2-D3652E69F901}"/>
              </a:ext>
            </a:extLst>
          </p:cNvPr>
          <p:cNvGrpSpPr/>
          <p:nvPr/>
        </p:nvGrpSpPr>
        <p:grpSpPr>
          <a:xfrm>
            <a:off x="87516" y="7175696"/>
            <a:ext cx="2888103" cy="2933700"/>
            <a:chOff x="10975648" y="2244092"/>
            <a:chExt cx="6088503" cy="6070804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8B34F2FF-15DA-E929-B0B5-1338772D687C}"/>
                </a:ext>
              </a:extLst>
            </p:cNvPr>
            <p:cNvSpPr/>
            <p:nvPr/>
          </p:nvSpPr>
          <p:spPr>
            <a:xfrm>
              <a:off x="10975648" y="3289114"/>
              <a:ext cx="6088503" cy="5025782"/>
            </a:xfrm>
            <a:custGeom>
              <a:avLst/>
              <a:gdLst/>
              <a:ahLst/>
              <a:cxnLst/>
              <a:rect l="l" t="t" r="r" b="b"/>
              <a:pathLst>
                <a:path w="6088503" h="5025782">
                  <a:moveTo>
                    <a:pt x="0" y="0"/>
                  </a:moveTo>
                  <a:lnTo>
                    <a:pt x="6088503" y="0"/>
                  </a:lnTo>
                  <a:lnTo>
                    <a:pt x="6088503" y="5025782"/>
                  </a:lnTo>
                  <a:lnTo>
                    <a:pt x="0" y="5025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072FF1E-0CBA-3957-F95B-2DE956284471}"/>
                </a:ext>
              </a:extLst>
            </p:cNvPr>
            <p:cNvSpPr/>
            <p:nvPr/>
          </p:nvSpPr>
          <p:spPr>
            <a:xfrm>
              <a:off x="12874598" y="2244092"/>
              <a:ext cx="2290603" cy="3057843"/>
            </a:xfrm>
            <a:custGeom>
              <a:avLst/>
              <a:gdLst/>
              <a:ahLst/>
              <a:cxnLst/>
              <a:rect l="l" t="t" r="r" b="b"/>
              <a:pathLst>
                <a:path w="2290603" h="3057843">
                  <a:moveTo>
                    <a:pt x="0" y="0"/>
                  </a:moveTo>
                  <a:lnTo>
                    <a:pt x="2290603" y="0"/>
                  </a:lnTo>
                  <a:lnTo>
                    <a:pt x="2290603" y="3057843"/>
                  </a:lnTo>
                  <a:lnTo>
                    <a:pt x="0" y="3057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67199" y="723900"/>
            <a:ext cx="9753600" cy="1152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KẾ HỆ THỐNG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1600" y="2324100"/>
            <a:ext cx="15224863" cy="666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>
              <a:lnSpc>
                <a:spcPts val="5159"/>
              </a:lnSpc>
              <a:spcBef>
                <a:spcPct val="0"/>
              </a:spcBef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 -&gt; Kiểm thử hệ thống: Phân tích luồng nghiệp vụ (Activity Diagram) và Use Case để xây dựng kịch bản kiểm thử End-to-End (E2E). Sử dụng Selenium WebDriver để mô phỏng hành vi người dùng. </a:t>
            </a:r>
          </a:p>
          <a:p>
            <a:pPr marL="863599" lvl="1" indent="-431800">
              <a:lnSpc>
                <a:spcPts val="5159"/>
              </a:lnSpc>
              <a:spcBef>
                <a:spcPct val="0"/>
              </a:spcBef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Model -&gt; Kiểm thử dữ liệu: Kiểm tra tính toàn vẹn, các ràng buộc (Not Null, Unique Key) và các thao tác CRUD cập nhật đúng trạng thái vào Database. </a:t>
            </a:r>
          </a:p>
          <a:p>
            <a:pPr marL="863599" lvl="1" indent="-431800">
              <a:lnSpc>
                <a:spcPts val="5159"/>
              </a:lnSpc>
              <a:spcBef>
                <a:spcPct val="0"/>
              </a:spcBef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Design -&gt; Kiểm thử giao diện &amp; Khả năng sử dụng: Đánh giá trải nghiệm, tính điều hướng (Navigation), thông báo hệ thống và độ phản hồi (Responsive) trên các thiết bị.</a:t>
            </a: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E7E8FEA6-FE1F-AA6B-1E0A-41C51C8F424E}"/>
              </a:ext>
            </a:extLst>
          </p:cNvPr>
          <p:cNvSpPr/>
          <p:nvPr/>
        </p:nvSpPr>
        <p:spPr>
          <a:xfrm>
            <a:off x="17380318" y="1485995"/>
            <a:ext cx="907682" cy="1588939"/>
          </a:xfrm>
          <a:custGeom>
            <a:avLst/>
            <a:gdLst/>
            <a:ahLst/>
            <a:cxnLst/>
            <a:rect l="l" t="t" r="r" b="b"/>
            <a:pathLst>
              <a:path w="907682" h="1588939">
                <a:moveTo>
                  <a:pt x="0" y="0"/>
                </a:moveTo>
                <a:lnTo>
                  <a:pt x="907682" y="0"/>
                </a:lnTo>
                <a:lnTo>
                  <a:pt x="907682" y="1588940"/>
                </a:lnTo>
                <a:lnTo>
                  <a:pt x="0" y="158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570739DB-DF01-BA7A-7F83-1645A7533610}"/>
              </a:ext>
            </a:extLst>
          </p:cNvPr>
          <p:cNvSpPr/>
          <p:nvPr/>
        </p:nvSpPr>
        <p:spPr>
          <a:xfrm>
            <a:off x="16673487" y="325323"/>
            <a:ext cx="1160673" cy="1160673"/>
          </a:xfrm>
          <a:custGeom>
            <a:avLst/>
            <a:gdLst/>
            <a:ahLst/>
            <a:cxnLst/>
            <a:rect l="l" t="t" r="r" b="b"/>
            <a:pathLst>
              <a:path w="1160673" h="1160673">
                <a:moveTo>
                  <a:pt x="0" y="0"/>
                </a:moveTo>
                <a:lnTo>
                  <a:pt x="1160672" y="0"/>
                </a:lnTo>
                <a:lnTo>
                  <a:pt x="1160672" y="1160672"/>
                </a:lnTo>
                <a:lnTo>
                  <a:pt x="0" y="11606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81298" y="2276056"/>
            <a:ext cx="12725400" cy="1152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PHI CHỨC NĂNG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37381" y="4229100"/>
            <a:ext cx="14013233" cy="400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9" lvl="1" indent="-431800">
              <a:lnSpc>
                <a:spcPts val="5159"/>
              </a:lnSpc>
              <a:spcBef>
                <a:spcPct val="0"/>
              </a:spcBef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Kiểm thử hiệu suất: Sử dụng JMeter và K6 để kiểm tra thời gian phản hồi API (mục tiêu &lt; 2 giây) và khả năng chịu tải khi có nhiều người dùng truy cập đồng thời.</a:t>
            </a:r>
          </a:p>
          <a:p>
            <a:pPr marL="863599" lvl="1" indent="-431800">
              <a:lnSpc>
                <a:spcPts val="5159"/>
              </a:lnSpc>
              <a:spcBef>
                <a:spcPct val="0"/>
              </a:spcBef>
              <a:buFont typeface="Arial"/>
              <a:buChar char="•"/>
            </a:pPr>
            <a:r>
              <a:rPr lang="en-US" sz="5000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Kiểm thử bảo mật: Tập trung vào xác thực (Authentication), phân quyền (Authorization), mã hóa mật khẩu và chống các lỗi như SQL Injection, XSS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F88B147-DB14-03E7-2206-9071DD5DA065}"/>
              </a:ext>
            </a:extLst>
          </p:cNvPr>
          <p:cNvSpPr/>
          <p:nvPr/>
        </p:nvSpPr>
        <p:spPr>
          <a:xfrm>
            <a:off x="1139469" y="8230195"/>
            <a:ext cx="1589809" cy="2057400"/>
          </a:xfrm>
          <a:custGeom>
            <a:avLst/>
            <a:gdLst/>
            <a:ahLst/>
            <a:cxnLst/>
            <a:rect l="l" t="t" r="r" b="b"/>
            <a:pathLst>
              <a:path w="1589809" h="2057400">
                <a:moveTo>
                  <a:pt x="0" y="0"/>
                </a:moveTo>
                <a:lnTo>
                  <a:pt x="1589809" y="0"/>
                </a:lnTo>
                <a:lnTo>
                  <a:pt x="158980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DC88D3A-4D8A-DCE6-C291-472BBCA09036}"/>
              </a:ext>
            </a:extLst>
          </p:cNvPr>
          <p:cNvSpPr/>
          <p:nvPr/>
        </p:nvSpPr>
        <p:spPr>
          <a:xfrm>
            <a:off x="-21203" y="7069522"/>
            <a:ext cx="1160673" cy="1160673"/>
          </a:xfrm>
          <a:custGeom>
            <a:avLst/>
            <a:gdLst/>
            <a:ahLst/>
            <a:cxnLst/>
            <a:rect l="l" t="t" r="r" b="b"/>
            <a:pathLst>
              <a:path w="1160673" h="1160673">
                <a:moveTo>
                  <a:pt x="0" y="0"/>
                </a:moveTo>
                <a:lnTo>
                  <a:pt x="1160672" y="0"/>
                </a:lnTo>
                <a:lnTo>
                  <a:pt x="1160672" y="1160673"/>
                </a:lnTo>
                <a:lnTo>
                  <a:pt x="0" y="1160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57068" y="336550"/>
            <a:ext cx="16373864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KẾ KIẾN TRÚC &amp; KIỂM THỬ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9099" y="1790700"/>
            <a:ext cx="17449800" cy="8335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5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 quan: Sử dụng mô hình C4 để phân rã hệ thống, xác định các điểm giao tiếp để kiểm thử tích hợp.</a:t>
            </a:r>
          </a:p>
          <a:p>
            <a:pPr marL="647700" lvl="1" indent="-323850" algn="l">
              <a:lnSpc>
                <a:spcPts val="5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tích thành phần &amp; kiểm thử tích hợp:</a:t>
            </a:r>
          </a:p>
          <a:p>
            <a:pPr algn="l">
              <a:lnSpc>
                <a:spcPts val="5000"/>
              </a:lnSpc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 Backend: Kiểm tra logic xử lý của Controller, Service và Repository.</a:t>
            </a:r>
          </a:p>
          <a:p>
            <a:pPr algn="l">
              <a:lnSpc>
                <a:spcPts val="5000"/>
              </a:lnSpc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 Frontend: Kiểm thử giao diện người dùng và tích hợp với Backend.</a:t>
            </a:r>
          </a:p>
          <a:p>
            <a:pPr marL="647700" lvl="1" indent="-323850" algn="l">
              <a:lnSpc>
                <a:spcPts val="5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tích kết nối &amp; kiểm thử API: Sử dụng Jest kết hợp Supertest để giả lập HTTP request, kiểm tra Status Code, Payload và logic nghiệp vụ qua API mà không cần server thực tế.</a:t>
            </a:r>
          </a:p>
          <a:p>
            <a:pPr marL="647700" lvl="1" indent="-323850" algn="l">
              <a:lnSpc>
                <a:spcPts val="5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tích dữ liệu &amp; kiểm thử nhất quán dữ liệu: Sử dụng Prisma (mock hoặc test DB) để seed dữ liệu và dọn dẹp sau mỗi test, đảm bảo tính cô lập.</a:t>
            </a:r>
          </a:p>
          <a:p>
            <a:pPr marL="647700" lvl="1" indent="-323850" algn="l">
              <a:lnSpc>
                <a:spcPts val="5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tích triển khai &amp; kiểm thử đơn vị / CI/CD: Tích hợp Unit Test vào pipeline GitHub Actions; triển khai lên Railway sau khi pass các test.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63868" y="2728541"/>
            <a:ext cx="12014605" cy="5021703"/>
          </a:xfrm>
          <a:custGeom>
            <a:avLst/>
            <a:gdLst/>
            <a:ahLst/>
            <a:cxnLst/>
            <a:rect l="l" t="t" r="r" b="b"/>
            <a:pathLst>
              <a:path w="10473742" h="6322331">
                <a:moveTo>
                  <a:pt x="0" y="0"/>
                </a:moveTo>
                <a:lnTo>
                  <a:pt x="10473741" y="0"/>
                </a:lnTo>
                <a:lnTo>
                  <a:pt x="10473741" y="6322332"/>
                </a:lnTo>
                <a:lnTo>
                  <a:pt x="0" y="6322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94336" y="6616100"/>
            <a:ext cx="7315200" cy="3670900"/>
          </a:xfrm>
          <a:custGeom>
            <a:avLst/>
            <a:gdLst/>
            <a:ahLst/>
            <a:cxnLst/>
            <a:rect l="l" t="t" r="r" b="b"/>
            <a:pathLst>
              <a:path w="7315200" h="3670900">
                <a:moveTo>
                  <a:pt x="0" y="0"/>
                </a:moveTo>
                <a:lnTo>
                  <a:pt x="7315200" y="0"/>
                </a:lnTo>
                <a:lnTo>
                  <a:pt x="7315200" y="3670900"/>
                </a:lnTo>
                <a:lnTo>
                  <a:pt x="0" y="367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9036" y="7916729"/>
            <a:ext cx="1589809" cy="2057400"/>
          </a:xfrm>
          <a:custGeom>
            <a:avLst/>
            <a:gdLst/>
            <a:ahLst/>
            <a:cxnLst/>
            <a:rect l="l" t="t" r="r" b="b"/>
            <a:pathLst>
              <a:path w="1589809" h="2057400">
                <a:moveTo>
                  <a:pt x="0" y="0"/>
                </a:moveTo>
                <a:lnTo>
                  <a:pt x="1589809" y="0"/>
                </a:lnTo>
                <a:lnTo>
                  <a:pt x="158980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380318" y="1485995"/>
            <a:ext cx="907682" cy="1588939"/>
          </a:xfrm>
          <a:custGeom>
            <a:avLst/>
            <a:gdLst/>
            <a:ahLst/>
            <a:cxnLst/>
            <a:rect l="l" t="t" r="r" b="b"/>
            <a:pathLst>
              <a:path w="907682" h="1588939">
                <a:moveTo>
                  <a:pt x="0" y="0"/>
                </a:moveTo>
                <a:lnTo>
                  <a:pt x="907682" y="0"/>
                </a:lnTo>
                <a:lnTo>
                  <a:pt x="907682" y="1588940"/>
                </a:lnTo>
                <a:lnTo>
                  <a:pt x="0" y="15889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673487" y="325323"/>
            <a:ext cx="1160673" cy="1160673"/>
          </a:xfrm>
          <a:custGeom>
            <a:avLst/>
            <a:gdLst/>
            <a:ahLst/>
            <a:cxnLst/>
            <a:rect l="l" t="t" r="r" b="b"/>
            <a:pathLst>
              <a:path w="1160673" h="1160673">
                <a:moveTo>
                  <a:pt x="0" y="0"/>
                </a:moveTo>
                <a:lnTo>
                  <a:pt x="1160672" y="0"/>
                </a:lnTo>
                <a:lnTo>
                  <a:pt x="1160672" y="1160672"/>
                </a:lnTo>
                <a:lnTo>
                  <a:pt x="0" y="11606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8364" y="6756056"/>
            <a:ext cx="1160673" cy="1160673"/>
          </a:xfrm>
          <a:custGeom>
            <a:avLst/>
            <a:gdLst/>
            <a:ahLst/>
            <a:cxnLst/>
            <a:rect l="l" t="t" r="r" b="b"/>
            <a:pathLst>
              <a:path w="1160673" h="1160673">
                <a:moveTo>
                  <a:pt x="0" y="0"/>
                </a:moveTo>
                <a:lnTo>
                  <a:pt x="1160672" y="0"/>
                </a:lnTo>
                <a:lnTo>
                  <a:pt x="1160672" y="1160673"/>
                </a:lnTo>
                <a:lnTo>
                  <a:pt x="0" y="11606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611332" y="4457700"/>
            <a:ext cx="10841749" cy="1821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73"/>
              </a:lnSpc>
              <a:spcBef>
                <a:spcPct val="0"/>
              </a:spcBef>
            </a:pPr>
            <a:r>
              <a:rPr lang="en-US" sz="6800" b="1">
                <a:solidFill>
                  <a:srgbClr val="224B8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CÁC PHƯƠNG PHÁP LUẬN TRONG KIỂM THỬ</a:t>
            </a:r>
          </a:p>
        </p:txBody>
      </p:sp>
      <p:sp>
        <p:nvSpPr>
          <p:cNvPr id="10" name="Freeform 10"/>
          <p:cNvSpPr/>
          <p:nvPr/>
        </p:nvSpPr>
        <p:spPr>
          <a:xfrm>
            <a:off x="-542389" y="1237739"/>
            <a:ext cx="3009144" cy="1132532"/>
          </a:xfrm>
          <a:custGeom>
            <a:avLst/>
            <a:gdLst/>
            <a:ahLst/>
            <a:cxnLst/>
            <a:rect l="l" t="t" r="r" b="b"/>
            <a:pathLst>
              <a:path w="3009144" h="1132532">
                <a:moveTo>
                  <a:pt x="0" y="0"/>
                </a:moveTo>
                <a:lnTo>
                  <a:pt x="3009144" y="0"/>
                </a:lnTo>
                <a:lnTo>
                  <a:pt x="3009144" y="1132533"/>
                </a:lnTo>
                <a:lnTo>
                  <a:pt x="0" y="11325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610100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963" y="122918"/>
            <a:ext cx="7975808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HỘP ĐEN (BLACK-BOX TESTING):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2019300"/>
            <a:ext cx="8555734" cy="7967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3870"/>
              </a:lnSpc>
              <a:buFont typeface="Arial"/>
              <a:buChar char="•"/>
            </a:pPr>
            <a:r>
              <a:rPr lang="en-US" sz="3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vùng tương đương (Equivalence Partitioning): Chia dữ liệu thành lớp hợp lệ/không hợp lệ (ví dụ: đăng nhập sai pass, email chưa đăng ký).</a:t>
            </a:r>
          </a:p>
          <a:p>
            <a:pPr algn="l">
              <a:lnSpc>
                <a:spcPts val="3870"/>
              </a:lnSpc>
            </a:pPr>
            <a:endParaRPr lang="en-US" sz="3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870"/>
              </a:lnSpc>
              <a:buFont typeface="Arial"/>
              <a:buChar char="•"/>
            </a:pPr>
            <a:r>
              <a:rPr lang="en-US" sz="3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tích giá trị biên (Boundary Value Analysis): Kiểm tra các điểm biên như độ dài mật khẩu (5 vs 6 ký tự), số điện thoại (9, 10, 11 số), tồn kho.</a:t>
            </a:r>
          </a:p>
          <a:p>
            <a:pPr algn="l">
              <a:lnSpc>
                <a:spcPts val="3870"/>
              </a:lnSpc>
            </a:pPr>
            <a:endParaRPr lang="en-US" sz="3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870"/>
              </a:lnSpc>
              <a:buFont typeface="Arial"/>
              <a:buChar char="•"/>
            </a:pPr>
            <a:r>
              <a:rPr lang="en-US" sz="3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Bảng quyết định (Decision Table): Áp dụng cho logic phức tạp như Lọc sản phẩm (kết hợp Tìm kiếm + Danh mục + Sắp xếp).</a:t>
            </a:r>
          </a:p>
          <a:p>
            <a:pPr algn="l">
              <a:lnSpc>
                <a:spcPts val="3870"/>
              </a:lnSpc>
            </a:pPr>
            <a:endParaRPr lang="en-US" sz="3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870"/>
              </a:lnSpc>
              <a:buFont typeface="Arial"/>
              <a:buChar char="•"/>
            </a:pPr>
            <a:r>
              <a:rPr lang="en-US" sz="3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Chuyển trạng thái (State Transition): Kiểm tra vòng đời của Tài khoản (Active/Locked), Đơn hàng (Pending/Shipping/Delivered).</a:t>
            </a:r>
          </a:p>
          <a:p>
            <a:pPr algn="l">
              <a:lnSpc>
                <a:spcPts val="3870"/>
              </a:lnSpc>
            </a:pPr>
            <a:endParaRPr lang="en-US" sz="3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9993500" y="122918"/>
            <a:ext cx="8204408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HỘP TRẮNG (WHITE-BOX TESTING):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9906000" y="2207895"/>
            <a:ext cx="8382000" cy="2442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3870"/>
              </a:lnSpc>
              <a:buFont typeface="Arial"/>
              <a:buChar char="•"/>
            </a:pPr>
            <a:r>
              <a:rPr lang="en-US" sz="3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Tập trung vào cấu trúc nội tại và logic mã nguồn.</a:t>
            </a:r>
          </a:p>
          <a:p>
            <a:pPr marL="647700" lvl="1" indent="-323850" algn="l">
              <a:lnSpc>
                <a:spcPts val="3870"/>
              </a:lnSpc>
              <a:buFont typeface="Arial"/>
              <a:buChar char="•"/>
            </a:pPr>
            <a:r>
              <a:rPr lang="en-US" sz="3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tiêu chí bao phủ: Statement Coverage (câu lệnh), Branch Coverage (nhánh if-else), và Condition Coverage (điều kiện logic).</a:t>
            </a:r>
          </a:p>
          <a:p>
            <a:pPr algn="l">
              <a:lnSpc>
                <a:spcPts val="3870"/>
              </a:lnSpc>
            </a:pPr>
            <a:endParaRPr lang="en-US" sz="3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304800" y="1128955"/>
            <a:ext cx="14121114" cy="1954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159"/>
              </a:lnSpc>
              <a:buFont typeface="Arial"/>
              <a:buChar char="•"/>
            </a:pPr>
            <a:r>
              <a:rPr lang="en-US" sz="3999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Dựa trên Use Case và User Story để đảm bảo các chức năng như Quản lý sản phẩm, Giỏ hàng, Thanh toán hoạt động đúng luồng.</a:t>
            </a:r>
          </a:p>
          <a:p>
            <a:pPr marL="863599" lvl="1" indent="-431800" algn="l">
              <a:lnSpc>
                <a:spcPts val="5159"/>
              </a:lnSpc>
              <a:buFont typeface="Arial"/>
              <a:buChar char="•"/>
            </a:pPr>
            <a:r>
              <a:rPr lang="en-US" sz="3999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 hiện kiểm thử luồng công việc (Workflow) từ đầu đến cuối.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475969" y="295860"/>
            <a:ext cx="1061761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5000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NGHIỆP VỤ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57400" y="4680856"/>
            <a:ext cx="11574684" cy="128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159"/>
              </a:lnSpc>
              <a:buFont typeface="Arial"/>
              <a:buChar char="•"/>
            </a:pPr>
            <a:r>
              <a:rPr lang="en-US" sz="3999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 dụng Selenium cho kiểm thử giao diện và E2E.</a:t>
            </a:r>
          </a:p>
          <a:p>
            <a:pPr marL="863599" lvl="1" indent="-431800" algn="l">
              <a:lnSpc>
                <a:spcPts val="5159"/>
              </a:lnSpc>
              <a:buFont typeface="Arial"/>
              <a:buChar char="•"/>
            </a:pPr>
            <a:r>
              <a:rPr lang="en-US" sz="3999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 động hóa quy trình Build, Test thông qua CI/CD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35934" y="3825909"/>
            <a:ext cx="1061761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5000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TỰ ĐỘNG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01277" y="8037079"/>
            <a:ext cx="14586723" cy="1954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9" lvl="1" indent="-431800" algn="l">
              <a:lnSpc>
                <a:spcPts val="5159"/>
              </a:lnSpc>
              <a:buFont typeface="Arial"/>
              <a:buChar char="•"/>
            </a:pPr>
            <a:r>
              <a:rPr lang="en-US" sz="3999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 cụ: Jest (ts-jest) cho TypeScript.</a:t>
            </a:r>
          </a:p>
          <a:p>
            <a:pPr marL="863599" lvl="1" indent="-431800" algn="l">
              <a:lnSpc>
                <a:spcPts val="5159"/>
              </a:lnSpc>
              <a:buFont typeface="Arial"/>
              <a:buChar char="•"/>
            </a:pPr>
            <a:r>
              <a:rPr lang="en-US" sz="3999" spc="-219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Lưu ý: Cô lập logic bằng cách Mock các phụ thuộc (Prisma, Stripe, Firebase) thay vì gọi dịch vụ thật; ưu tiên test các luồng nghiệp vụ quan trọng.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1800" y="6485839"/>
            <a:ext cx="10617616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5000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ĐƠN VỊ </a:t>
            </a:r>
          </a:p>
          <a:p>
            <a:pPr algn="ctr">
              <a:lnSpc>
                <a:spcPts val="5599"/>
              </a:lnSpc>
            </a:pPr>
            <a:r>
              <a:rPr lang="en-US" sz="5000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(UNIT TESTING) &amp; CÁC LƯU Ý: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23534" y="1865419"/>
            <a:ext cx="4132897" cy="6143495"/>
          </a:xfrm>
          <a:custGeom>
            <a:avLst/>
            <a:gdLst/>
            <a:ahLst/>
            <a:cxnLst/>
            <a:rect l="l" t="t" r="r" b="b"/>
            <a:pathLst>
              <a:path w="4132897" h="6143495">
                <a:moveTo>
                  <a:pt x="0" y="0"/>
                </a:moveTo>
                <a:lnTo>
                  <a:pt x="4132897" y="0"/>
                </a:lnTo>
                <a:lnTo>
                  <a:pt x="4132897" y="6143495"/>
                </a:lnTo>
                <a:lnTo>
                  <a:pt x="0" y="614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40708" y="3004304"/>
            <a:ext cx="3102858" cy="5004610"/>
          </a:xfrm>
          <a:custGeom>
            <a:avLst/>
            <a:gdLst/>
            <a:ahLst/>
            <a:cxnLst/>
            <a:rect l="l" t="t" r="r" b="b"/>
            <a:pathLst>
              <a:path w="3102858" h="5004610">
                <a:moveTo>
                  <a:pt x="0" y="0"/>
                </a:moveTo>
                <a:lnTo>
                  <a:pt x="3102858" y="0"/>
                </a:lnTo>
                <a:lnTo>
                  <a:pt x="3102858" y="5004610"/>
                </a:lnTo>
                <a:lnTo>
                  <a:pt x="0" y="5004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90600" y="4429391"/>
            <a:ext cx="7315200" cy="256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10000" b="1">
                <a:solidFill>
                  <a:schemeClr val="tx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QUẢ ĐẠT ĐƯỢC</a:t>
            </a: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BC5D866E-9F89-7CA0-A09D-B5BD8ABEBC99}"/>
              </a:ext>
            </a:extLst>
          </p:cNvPr>
          <p:cNvSpPr/>
          <p:nvPr/>
        </p:nvSpPr>
        <p:spPr>
          <a:xfrm rot="10800000" flipV="1">
            <a:off x="-876300" y="-28107"/>
            <a:ext cx="7315200" cy="3670900"/>
          </a:xfrm>
          <a:custGeom>
            <a:avLst/>
            <a:gdLst/>
            <a:ahLst/>
            <a:cxnLst/>
            <a:rect l="l" t="t" r="r" b="b"/>
            <a:pathLst>
              <a:path w="7315200" h="3670900">
                <a:moveTo>
                  <a:pt x="0" y="0"/>
                </a:moveTo>
                <a:lnTo>
                  <a:pt x="7315200" y="0"/>
                </a:lnTo>
                <a:lnTo>
                  <a:pt x="7315200" y="3670900"/>
                </a:lnTo>
                <a:lnTo>
                  <a:pt x="0" y="3670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35192" y="1790700"/>
            <a:ext cx="10617616" cy="246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MINH HỌA QUÁ TRÌNH THỰC THI KIỂM THỬ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95499" y="4381500"/>
            <a:ext cx="14097001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sử dụng GitHub Actions để chạy tự động các Unit Test và Build Frontend mỗi khi có Pull Request.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 khi các test pass hết (trạng thái xanh) mới được merge vào nhánh chính.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57600" y="1132780"/>
            <a:ext cx="10617616" cy="246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BÁO CÁO KIỂM THỬ (COVERAGE REPORT)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7727" y="4076700"/>
            <a:ext cx="16912543" cy="3847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 bao phủ hàm (Function Coverage): Đạt 85.29% (Khá tốt).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 bao phủ câu lệnh (Statement Coverage): Đạt 79.18%.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 bao phủ nhánh (Branch Coverage): Đạt 54.21% (Cần cải thiện).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 bao phủ nhánh (Branch Coverage): Đạt 54.21% (Cần cải thiện).</a:t>
            </a:r>
          </a:p>
          <a:p>
            <a:pPr algn="l">
              <a:lnSpc>
                <a:spcPts val="6000"/>
              </a:lnSpc>
            </a:pPr>
            <a:endParaRPr lang="en-US" sz="5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35192" y="105056"/>
            <a:ext cx="10617616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BÁO CÁO LỖI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43200" y="1505396"/>
            <a:ext cx="13712142" cy="3847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 chấp nhận lỗi Critical (gây crash, mất dữ liệu) khi bàn giao.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phép tối đa 02 lỗi Major (nếu có phương án khắc phục tạm thời).</a:t>
            </a:r>
          </a:p>
          <a:p>
            <a:pPr algn="l">
              <a:lnSpc>
                <a:spcPts val="6000"/>
              </a:lnSpc>
            </a:pPr>
            <a:endParaRPr lang="en-US" sz="5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867618" y="4664031"/>
            <a:ext cx="10617616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BÁO CÁO TỔNG KẾT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E3AFFA80-E1B4-4254-6A28-35E5FC1095A8}"/>
              </a:ext>
            </a:extLst>
          </p:cNvPr>
          <p:cNvSpPr txBox="1"/>
          <p:nvPr/>
        </p:nvSpPr>
        <p:spPr>
          <a:xfrm>
            <a:off x="3124200" y="6134100"/>
            <a:ext cx="11574684" cy="377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6000"/>
              </a:lnSpc>
              <a:buFont typeface="Arial"/>
              <a:buChar char="•"/>
            </a:pPr>
            <a:r>
              <a:rPr lang="vi-VN" sz="4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Điểm mạnh: Logic nghiệp vụ lõi (Controller &amp; Service) được kiểm thử kỹ; cấu hình thanh toán an toàn</a:t>
            </a:r>
          </a:p>
          <a:p>
            <a:pPr marL="647700" lvl="1" indent="-323850">
              <a:lnSpc>
                <a:spcPts val="6000"/>
              </a:lnSpc>
              <a:buFont typeface="Arial"/>
              <a:buChar char="•"/>
            </a:pPr>
            <a:r>
              <a:rPr lang="vi-VN" sz="4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Điểm yếu: Độ bao phủ nhánh còn thấp (đặc biệt là Webhook và Checkout), tiềm ẩn rủi ro khi xử lý các trường hợp ngoại lệ.</a:t>
            </a:r>
            <a:endParaRPr lang="en-US" sz="4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02638"/>
            <a:ext cx="10588471" cy="6372334"/>
          </a:xfrm>
          <a:custGeom>
            <a:avLst/>
            <a:gdLst/>
            <a:ahLst/>
            <a:cxnLst/>
            <a:rect l="l" t="t" r="r" b="b"/>
            <a:pathLst>
              <a:path w="10588471" h="6372334">
                <a:moveTo>
                  <a:pt x="0" y="0"/>
                </a:moveTo>
                <a:lnTo>
                  <a:pt x="10588471" y="0"/>
                </a:lnTo>
                <a:lnTo>
                  <a:pt x="10588471" y="6372335"/>
                </a:lnTo>
                <a:lnTo>
                  <a:pt x="0" y="6372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79954" y="3924300"/>
            <a:ext cx="10085961" cy="4003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04"/>
              </a:lnSpc>
            </a:pPr>
            <a:r>
              <a:rPr lang="en-US" sz="7645" b="1">
                <a:solidFill>
                  <a:schemeClr val="tx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LUẬN &amp; </a:t>
            </a:r>
          </a:p>
          <a:p>
            <a:pPr algn="l">
              <a:lnSpc>
                <a:spcPts val="10704"/>
              </a:lnSpc>
            </a:pPr>
            <a:r>
              <a:rPr lang="en-US" sz="7645" b="1">
                <a:solidFill>
                  <a:schemeClr val="tx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HƯỚNG PHÁT TRIỂN</a:t>
            </a:r>
          </a:p>
          <a:p>
            <a:pPr algn="l">
              <a:lnSpc>
                <a:spcPts val="10704"/>
              </a:lnSpc>
            </a:pPr>
            <a:endParaRPr lang="en-US" sz="7645" b="1">
              <a:solidFill>
                <a:schemeClr val="tx2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2311652" y="2556237"/>
            <a:ext cx="5642129" cy="6281723"/>
          </a:xfrm>
          <a:custGeom>
            <a:avLst/>
            <a:gdLst/>
            <a:ahLst/>
            <a:cxnLst/>
            <a:rect l="l" t="t" r="r" b="b"/>
            <a:pathLst>
              <a:path w="5642129" h="6281723">
                <a:moveTo>
                  <a:pt x="0" y="0"/>
                </a:moveTo>
                <a:lnTo>
                  <a:pt x="5642129" y="0"/>
                </a:lnTo>
                <a:lnTo>
                  <a:pt x="5642129" y="6281723"/>
                </a:lnTo>
                <a:lnTo>
                  <a:pt x="0" y="62817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35192" y="105056"/>
            <a:ext cx="10617616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LUẬN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56658" y="1812298"/>
            <a:ext cx="11574684" cy="84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án đã xây dựng được một hệ thống thương mại điện tử GoShop đáp ứng các nhu cầu cơ bản về mua sắm và quản lý.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endParaRPr lang="en-US" sz="5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áp dụng thành công quy trình kiểm thử bài bản (V-Model) kết hợp với công nghệ hiện đại (CI/CD, Automation) để đảm bảo chất lượng.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endParaRPr lang="en-US" sz="5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Hoạt động kiểm thử đóng vai trò then chốt, mang tính chủ động và liên tục.</a:t>
            </a:r>
          </a:p>
          <a:p>
            <a:pPr algn="l">
              <a:lnSpc>
                <a:spcPts val="6000"/>
              </a:lnSpc>
            </a:pPr>
            <a:endParaRPr lang="en-US" sz="5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5192" y="336550"/>
            <a:ext cx="10617616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HƯỚNG PHÁT TRIỂN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56658" y="2247900"/>
            <a:ext cx="11574684" cy="692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Cần cải thiện độ bao phủ nhánh (Branch Coverage), đặc biệt là xử lý các nhánh lỗi trong Webhook và Checkout.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rộng khả năng mở rộng chức năng và quy mô người dùng trong tương lai.</a:t>
            </a:r>
          </a:p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5000" spc="-165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hóa hiệu năng hệ thống để đảm bảo thời gian phản hồi tốt hơn khi lượng truy cập tăng cao.</a:t>
            </a:r>
          </a:p>
          <a:p>
            <a:pPr algn="l">
              <a:lnSpc>
                <a:spcPts val="6000"/>
              </a:lnSpc>
            </a:pPr>
            <a:endParaRPr lang="en-US" sz="5000" spc="-165">
              <a:solidFill>
                <a:srgbClr val="3434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76408" y="-3924300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33983" y="3609769"/>
            <a:ext cx="16420035" cy="3188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sz="19362" b="1">
                <a:solidFill>
                  <a:schemeClr val="tx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 rot="-1354446">
            <a:off x="15843106" y="2606653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885027">
            <a:off x="5092713" y="2195823"/>
            <a:ext cx="2206219" cy="1740908"/>
          </a:xfrm>
          <a:custGeom>
            <a:avLst/>
            <a:gdLst/>
            <a:ahLst/>
            <a:cxnLst/>
            <a:rect l="l" t="t" r="r" b="b"/>
            <a:pathLst>
              <a:path w="2206219" h="1740908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91839" y="8205407"/>
            <a:ext cx="4202073" cy="2521244"/>
          </a:xfrm>
          <a:custGeom>
            <a:avLst/>
            <a:gdLst/>
            <a:ahLst/>
            <a:cxnLst/>
            <a:rect l="l" t="t" r="r" b="b"/>
            <a:pathLst>
              <a:path w="4202073" h="2521244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839221">
            <a:off x="9785300" y="7617346"/>
            <a:ext cx="1170380" cy="2030628"/>
          </a:xfrm>
          <a:custGeom>
            <a:avLst/>
            <a:gdLst/>
            <a:ahLst/>
            <a:cxnLst/>
            <a:rect l="l" t="t" r="r" b="b"/>
            <a:pathLst>
              <a:path w="1170380" h="2030628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1579</Words>
  <Application>Microsoft Office PowerPoint</Application>
  <PresentationFormat>Custom</PresentationFormat>
  <Paragraphs>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Arial</vt:lpstr>
      <vt:lpstr>Times New Roman</vt:lpstr>
      <vt:lpstr>Times New Roman Bold</vt:lpstr>
      <vt:lpstr>Noto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Purple Illustrative Computer Technology Presentation</dc:title>
  <cp:lastModifiedBy>Nguyễn Thúy</cp:lastModifiedBy>
  <cp:revision>2</cp:revision>
  <dcterms:created xsi:type="dcterms:W3CDTF">2006-08-16T00:00:00Z</dcterms:created>
  <dcterms:modified xsi:type="dcterms:W3CDTF">2025-12-17T19:23:14Z</dcterms:modified>
  <dc:identifier>DAG7ylMprqg</dc:identifier>
</cp:coreProperties>
</file>